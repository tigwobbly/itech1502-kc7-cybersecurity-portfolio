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425"/>
  </p:normalViewPr>
  <p:slideViewPr>
    <p:cSldViewPr snapToGrid="0">
      <p:cViewPr varScale="1">
        <p:scale>
          <a:sx n="105" d="100"/>
          <a:sy n="105" d="100"/>
        </p:scale>
        <p:origin x="13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morning. My project used KC7 Cyber and its A Rap Beef investigation. I followed a targeted phishing attack from early reconnaissance through a successful account compromise and the theft of information. I will explain the goal, the method I used, the evidence I found, and how it connects to the cybersecurity concepts from ITECH1502.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KC7 is a story-driven platform that simulates the kind of evidence a SOC analyst would examine. My main goal was to identify who was behind the activity and then reconstruct the sequence using only the available logs. I also wanted to explain why each finding mattered and recommend controls that could interrupt the same attack in a real </a:t>
            </a:r>
            <a:r>
              <a:rPr dirty="0" err="1"/>
              <a:t>organisation</a:t>
            </a:r>
            <a:r>
              <a:rPr dirty="0"/>
              <a:t>. Source: ITECH1502 Final Project Brief and KC7 A Rap Beef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My method followed a series of pivots. I began with the IP address supplied in the case. Passive DNS associated that IP with betterlyrics4u.com. I then searched the email table for that domain and joined the recipients to employee records. From there, I used outbound network logs to confirm the click, authentication logs to test whether the credentials worked, and inbound network logs to examine the activity after compromise. I restricted each query with relevant time windows and indicators. This reflects the unit's SIEM principle of correlating separate events into one incident. Sources: KC7 evidence; ITECH1502 Week 10 SIEM, SOAR and XDR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timeline starts on 7 April when the suspicious IP resolved to betterlyrics4u.com. On 10 April, the adversary researched </a:t>
            </a:r>
            <a:r>
              <a:rPr dirty="0" err="1"/>
              <a:t>Dwake</a:t>
            </a:r>
            <a:r>
              <a:rPr dirty="0"/>
              <a:t> and used the names Washington and Fluffy in the password reset process. On 15 April, the phishing email arrived at 11:07. </a:t>
            </a:r>
            <a:r>
              <a:rPr dirty="0" err="1"/>
              <a:t>Dwake</a:t>
            </a:r>
            <a:r>
              <a:rPr dirty="0"/>
              <a:t> clicked the link at 12:03, and the adversary successfully logged in at 13:03 from 18.66.52.227. Later account activity produced ten matching results, and on 30 April a request downloaded </a:t>
            </a:r>
            <a:r>
              <a:rPr dirty="0" err="1"/>
              <a:t>DwakesDirtySecrets.zip</a:t>
            </a:r>
            <a:r>
              <a:rPr dirty="0"/>
              <a:t> with status code 200. I treated a stage as confirmed only when the logs contained a clear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attacker sent a </a:t>
            </a:r>
            <a:r>
              <a:rPr dirty="0" err="1"/>
              <a:t>personalised</a:t>
            </a:r>
            <a:r>
              <a:rPr dirty="0"/>
              <a:t> message offering ghostwriting help. The subject and wording were relevant to </a:t>
            </a:r>
            <a:r>
              <a:rPr dirty="0" err="1"/>
              <a:t>Dwake's</a:t>
            </a:r>
            <a:r>
              <a:rPr dirty="0"/>
              <a:t> role, which made it more convincing than a generic phishing email. The email record shows </a:t>
            </a:r>
            <a:r>
              <a:rPr dirty="0" err="1"/>
              <a:t>Dwake</a:t>
            </a:r>
            <a:r>
              <a:rPr dirty="0"/>
              <a:t> as the recipient and marks the message CLEAN, so the email security product did not block it. Outbound network data then recorded </a:t>
            </a:r>
            <a:r>
              <a:rPr dirty="0" err="1"/>
              <a:t>Dwake's</a:t>
            </a:r>
            <a:r>
              <a:rPr dirty="0"/>
              <a:t> internal IP accessing the link at 12:03 on 15 April. This connects directly to the Week 3 human factors material: attackers exploit relevance, trust and curiosity to persuade a user to 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was the decisive piece of evidence. The password reset URL suggested an attempt, but the authentication event confirmed that the account was actually compromised. The record contains </a:t>
            </a:r>
            <a:r>
              <a:rPr dirty="0" err="1"/>
              <a:t>Dwake's</a:t>
            </a:r>
            <a:r>
              <a:rPr dirty="0"/>
              <a:t> username, the same adversary IP, the exact timestamp and the result Successful Login. This distinction matters in an investigation because an analyst should separate attempted activity from verified impact. It also shows the weakness of knowledge-based authentication when the answers are public.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the successful login, I filtered inbound network events for </a:t>
            </a:r>
            <a:r>
              <a:rPr dirty="0" err="1"/>
              <a:t>Dwake's</a:t>
            </a:r>
            <a:r>
              <a:rPr dirty="0"/>
              <a:t> username and the adversary IP. The query returned ten results showing activity against the mailbox. The final record contains download=true and the output filename </a:t>
            </a:r>
            <a:r>
              <a:rPr dirty="0" err="1"/>
              <a:t>DwakesDirtySecrets.zip</a:t>
            </a:r>
            <a:r>
              <a:rPr dirty="0"/>
              <a:t>. The HTTP status code is 200, supporting the conclusion that the download request succeeded. This moves the incident from account compromise to data exfiltration. I would still avoid claiming exactly what information was inside the file because the logs show the transfer, not the file contents.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case connects several weeks of the unit. Week 3 explains why tailored phishing and public personal information are effective. Week 8 shows that authentication needs more than weak security questions and supports MFA and least privilege. Weeks 7 and 10 explain the SOC process and how </a:t>
            </a:r>
            <a:r>
              <a:rPr dirty="0" err="1"/>
              <a:t>centralised</a:t>
            </a:r>
            <a:r>
              <a:rPr dirty="0"/>
              <a:t> logs allow analysts to correlate evidence. Under NIST CSF 2.0, stronger identity controls and training belong to Protect, central monitoring belongs to Detect, and an account compromise playbook supports Respond. My recommended controls therefore combine people, process and technology instead of relying on one product. Sources: ITECH1502 Weeks 3, 6, 7, 8 and 10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most important lesson was the difference between an indicator and proof. A suspicious URL or password reset attempt is not the same as a confirmed compromise. By following the same IP, target and timestamps across several tables, I could make a defensible conclusion. The exercise also improved my confidence with KQL and with explaining technical findings in plain language. If I repeated it, I would keep a structured evidence log as I worked, with the query, result, interpretation and screenshot together. Completing all 35 questions showed me that repeated investigation practice builds the pattern recognition needed for future SOC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2EB2A44-E0CC-4235-88EB-BECDD5BE762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CC1DD6D4-97F4-4A23-84C2-2FC9C4006F0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85881D1-17BB-436C-BA7C-BE767F573CC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373397-B473-4047-878D-B00467CE617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C866ABAD-C662-41E7-A417-E903C94BC80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3932A94-B899-4404-A0EF-E6867DF5493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FAC6A24-F026-4C4A-88E6-670008D28C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C15E7808-19DF-48D0-B2B4-2FB1B3E0E35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4293536-329D-4B4E-881A-60B90EF5BBB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1ED78E3-B225-4550-B4AB-3B0A1AF9E88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1B2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FD3F04-36C9-406B-AD3F-CD0E5201A49B}"/>
              </a:ext>
            </a:extLst>
          </p:cNvPr>
          <p:cNvSpPr>
            <a:spLocks noGrp="1"/>
          </p:cNvSpPr>
          <p:nvPr/>
        </p:nvSpPr>
        <p:spPr>
          <a:xfrm>
            <a:off x="685800" y="647700"/>
            <a:ext cx="6191250" cy="323850"/>
          </a:xfrm>
          <a:prstGeom prst="rect">
            <a:avLst/>
          </a:prstGeom>
          <a:noFill/>
          <a:ln w="0">
            <a:noFill/>
            <a:prstDash val="solid"/>
          </a:ln>
        </p:spPr>
        <p:txBody>
          <a:bodyPr>
            <a:normAutofit/>
          </a:bodyPr>
          <a:lstStyle>
            <a:defPPr algn="l">
              <a:defRPr sz="1200" b="1">
                <a:solidFill>
                  <a:srgbClr val="42BCEB"/>
                </a:solidFill>
                <a:latin typeface="Arial"/>
                <a:ea typeface="Arial"/>
                <a:cs typeface="Arial"/>
              </a:defRPr>
            </a:defPPr>
          </a:lstStyle>
          <a:p>
            <a:pPr algn="l">
              <a:defRPr sz="1200" b="1">
                <a:solidFill>
                  <a:srgbClr val="42BCEB"/>
                </a:solidFill>
                <a:latin typeface="Arial"/>
                <a:ea typeface="Arial"/>
                <a:cs typeface="Arial"/>
              </a:defRPr>
            </a:pPr>
            <a:r>
              <a:rPr sz="1200" b="1">
                <a:solidFill>
                  <a:srgbClr val="42BCEB"/>
                </a:solidFill>
                <a:latin typeface="Arial"/>
                <a:ea typeface="Arial"/>
                <a:cs typeface="Arial"/>
              </a:rPr>
              <a:t>ITECH1502 CYBERSECURITY FUNDAMENTALS</a:t>
            </a:r>
          </a:p>
        </p:txBody>
      </p:sp>
      <p:sp>
        <p:nvSpPr>
          <p:cNvPr id="2" name="Rectangle 1">
            <a:extLst>
              <a:ext uri="{FF2B5EF4-FFF2-40B4-BE49-F238E27FC236}">
                <a16:creationId xmlns:a16="http://schemas.microsoft.com/office/drawing/2014/main" id="{C10ABFE3-9595-440E-BCAD-7779109BF488}"/>
              </a:ext>
            </a:extLst>
          </p:cNvPr>
          <p:cNvSpPr>
            <a:spLocks noGrp="1"/>
          </p:cNvSpPr>
          <p:nvPr/>
        </p:nvSpPr>
        <p:spPr>
          <a:xfrm>
            <a:off x="685800" y="1257300"/>
            <a:ext cx="819150" cy="57150"/>
          </a:xfrm>
          <a:prstGeom prst="rect">
            <a:avLst/>
          </a:prstGeom>
          <a:solidFill>
            <a:srgbClr val="FF6A2A"/>
          </a:solidFill>
          <a:ln w="9525">
            <a:solidFill>
              <a:srgbClr val="FF6A2A"/>
            </a:solidFill>
            <a:prstDash val="solid"/>
          </a:ln>
        </p:spPr>
        <p:txBody>
          <a:bodyPr/>
          <a:lstStyle/>
          <a:p>
            <a:endParaRPr lang="en-US"/>
          </a:p>
        </p:txBody>
      </p:sp>
      <p:sp>
        <p:nvSpPr>
          <p:cNvPr id="3" name="Rectangle 2">
            <a:extLst>
              <a:ext uri="{FF2B5EF4-FFF2-40B4-BE49-F238E27FC236}">
                <a16:creationId xmlns:a16="http://schemas.microsoft.com/office/drawing/2014/main" id="{761DBDDB-8CBC-465E-8442-911DFA6FCC71}"/>
              </a:ext>
            </a:extLst>
          </p:cNvPr>
          <p:cNvSpPr>
            <a:spLocks noGrp="1"/>
          </p:cNvSpPr>
          <p:nvPr/>
        </p:nvSpPr>
        <p:spPr>
          <a:xfrm>
            <a:off x="685800" y="1676400"/>
            <a:ext cx="8096250" cy="1809750"/>
          </a:xfrm>
          <a:prstGeom prst="rect">
            <a:avLst/>
          </a:prstGeom>
          <a:noFill/>
          <a:ln w="0">
            <a:noFill/>
            <a:prstDash val="solid"/>
          </a:ln>
        </p:spPr>
        <p:txBody>
          <a:bodyPr>
            <a:normAutofit/>
          </a:bodyPr>
          <a:lstStyle>
            <a:defPPr algn="l">
              <a:defRPr sz="3900" b="1">
                <a:solidFill>
                  <a:srgbClr val="FFFFFF"/>
                </a:solidFill>
                <a:latin typeface="Arial"/>
                <a:ea typeface="Arial"/>
                <a:cs typeface="Arial"/>
              </a:defRPr>
            </a:defPPr>
          </a:lstStyle>
          <a:p>
            <a:pPr algn="l">
              <a:defRPr sz="3900" b="1">
                <a:solidFill>
                  <a:srgbClr val="FFFFFF"/>
                </a:solidFill>
                <a:latin typeface="Arial"/>
                <a:ea typeface="Arial"/>
                <a:cs typeface="Arial"/>
              </a:defRPr>
            </a:pPr>
            <a:r>
              <a:rPr sz="3900" b="1">
                <a:solidFill>
                  <a:srgbClr val="FFFFFF"/>
                </a:solidFill>
                <a:latin typeface="Arial"/>
                <a:ea typeface="Arial"/>
                <a:cs typeface="Arial"/>
              </a:rPr>
              <a:t>Tracing a phishing-led</a:t>
            </a:r>
          </a:p>
          <a:p>
            <a:pPr algn="l">
              <a:defRPr sz="3900" b="1">
                <a:solidFill>
                  <a:srgbClr val="FFFFFF"/>
                </a:solidFill>
                <a:latin typeface="Arial"/>
                <a:ea typeface="Arial"/>
                <a:cs typeface="Arial"/>
              </a:defRPr>
            </a:pPr>
            <a:r>
              <a:rPr sz="3900" b="1">
                <a:solidFill>
                  <a:srgbClr val="FFFFFF"/>
                </a:solidFill>
                <a:latin typeface="Arial"/>
                <a:ea typeface="Arial"/>
                <a:cs typeface="Arial"/>
              </a:rPr>
              <a:t>account compromise</a:t>
            </a:r>
          </a:p>
        </p:txBody>
      </p:sp>
      <p:sp>
        <p:nvSpPr>
          <p:cNvPr id="4" name="Rectangle 3">
            <a:extLst>
              <a:ext uri="{FF2B5EF4-FFF2-40B4-BE49-F238E27FC236}">
                <a16:creationId xmlns:a16="http://schemas.microsoft.com/office/drawing/2014/main" id="{937D9AAC-9C02-47B5-B179-F1B81ED265EC}"/>
              </a:ext>
            </a:extLst>
          </p:cNvPr>
          <p:cNvSpPr>
            <a:spLocks noGrp="1"/>
          </p:cNvSpPr>
          <p:nvPr/>
        </p:nvSpPr>
        <p:spPr>
          <a:xfrm>
            <a:off x="723900" y="3695700"/>
            <a:ext cx="6667500" cy="457200"/>
          </a:xfrm>
          <a:prstGeom prst="rect">
            <a:avLst/>
          </a:prstGeom>
          <a:noFill/>
          <a:ln w="0">
            <a:noFill/>
            <a:prstDash val="solid"/>
          </a:ln>
        </p:spPr>
        <p:txBody>
          <a:bodyPr>
            <a:normAutofit/>
          </a:bodyPr>
          <a:lstStyle>
            <a:defPPr algn="l">
              <a:defRPr sz="1875" b="1">
                <a:solidFill>
                  <a:srgbClr val="FF6A2A"/>
                </a:solidFill>
                <a:latin typeface="Arial"/>
                <a:ea typeface="Arial"/>
                <a:cs typeface="Arial"/>
              </a:defRPr>
            </a:defPPr>
          </a:lstStyle>
          <a:p>
            <a:pPr algn="l">
              <a:defRPr sz="1875" b="1">
                <a:solidFill>
                  <a:srgbClr val="FF6A2A"/>
                </a:solidFill>
                <a:latin typeface="Arial"/>
                <a:ea typeface="Arial"/>
                <a:cs typeface="Arial"/>
              </a:defRPr>
            </a:pPr>
            <a:r>
              <a:rPr sz="1875" b="1">
                <a:solidFill>
                  <a:srgbClr val="FF6A2A"/>
                </a:solidFill>
                <a:latin typeface="Arial"/>
                <a:ea typeface="Arial"/>
                <a:cs typeface="Arial"/>
              </a:rPr>
              <a:t>KC7 Cyber: A Rap Beef</a:t>
            </a:r>
          </a:p>
        </p:txBody>
      </p:sp>
      <p:sp>
        <p:nvSpPr>
          <p:cNvPr id="5" name="Rectangle 4">
            <a:extLst>
              <a:ext uri="{FF2B5EF4-FFF2-40B4-BE49-F238E27FC236}">
                <a16:creationId xmlns:a16="http://schemas.microsoft.com/office/drawing/2014/main" id="{1C183B98-E3E1-4646-AF01-47448B0820F9}"/>
              </a:ext>
            </a:extLst>
          </p:cNvPr>
          <p:cNvSpPr>
            <a:spLocks noGrp="1"/>
          </p:cNvSpPr>
          <p:nvPr/>
        </p:nvSpPr>
        <p:spPr>
          <a:xfrm>
            <a:off x="723900" y="4762500"/>
            <a:ext cx="6667500" cy="381000"/>
          </a:xfrm>
          <a:prstGeom prst="rect">
            <a:avLst/>
          </a:prstGeom>
          <a:noFill/>
          <a:ln w="0">
            <a:noFill/>
            <a:prstDash val="solid"/>
          </a:ln>
        </p:spPr>
        <p:txBody>
          <a:bodyPr>
            <a:normAutofit/>
          </a:bodyPr>
          <a:lstStyle>
            <a:defPPr algn="l">
              <a:defRPr sz="1575" b="0">
                <a:solidFill>
                  <a:srgbClr val="D9E6EE"/>
                </a:solidFill>
                <a:latin typeface="Arial"/>
                <a:ea typeface="Arial"/>
                <a:cs typeface="Arial"/>
              </a:defRPr>
            </a:defPPr>
          </a:lstStyle>
          <a:p>
            <a:pPr algn="l">
              <a:defRPr sz="1575" b="0">
                <a:solidFill>
                  <a:srgbClr val="D9E6EE"/>
                </a:solidFill>
                <a:latin typeface="Arial"/>
                <a:ea typeface="Arial"/>
                <a:cs typeface="Arial"/>
              </a:defRPr>
            </a:pPr>
            <a:r>
              <a:rPr sz="1575" b="0">
                <a:solidFill>
                  <a:srgbClr val="D9E6EE"/>
                </a:solidFill>
                <a:latin typeface="Arial"/>
                <a:ea typeface="Arial"/>
                <a:cs typeface="Arial"/>
              </a:rPr>
              <a:t>Connor Reid  |  Student ID 30347026</a:t>
            </a:r>
          </a:p>
        </p:txBody>
      </p:sp>
      <p:sp>
        <p:nvSpPr>
          <p:cNvPr id="6" name="Rectangle 5">
            <a:extLst>
              <a:ext uri="{FF2B5EF4-FFF2-40B4-BE49-F238E27FC236}">
                <a16:creationId xmlns:a16="http://schemas.microsoft.com/office/drawing/2014/main" id="{379004DA-89AD-40C1-952B-C410DC6398D7}"/>
              </a:ext>
            </a:extLst>
          </p:cNvPr>
          <p:cNvSpPr>
            <a:spLocks noGrp="1"/>
          </p:cNvSpPr>
          <p:nvPr/>
        </p:nvSpPr>
        <p:spPr>
          <a:xfrm>
            <a:off x="723900" y="5200650"/>
            <a:ext cx="6667500" cy="342900"/>
          </a:xfrm>
          <a:prstGeom prst="rect">
            <a:avLst/>
          </a:prstGeom>
          <a:noFill/>
          <a:ln w="0">
            <a:noFill/>
            <a:prstDash val="solid"/>
          </a:ln>
        </p:spPr>
        <p:txBody>
          <a:bodyPr>
            <a:normAutofit/>
          </a:bodyPr>
          <a:lstStyle>
            <a:defPPr algn="l">
              <a:defRPr sz="1350" b="0">
                <a:solidFill>
                  <a:srgbClr val="91AFC2"/>
                </a:solidFill>
                <a:latin typeface="Arial"/>
                <a:ea typeface="Arial"/>
                <a:cs typeface="Arial"/>
              </a:defRPr>
            </a:defPPr>
          </a:lstStyle>
          <a:p>
            <a:pPr algn="l">
              <a:defRPr sz="1350" b="0">
                <a:solidFill>
                  <a:srgbClr val="91AFC2"/>
                </a:solidFill>
                <a:latin typeface="Arial"/>
                <a:ea typeface="Arial"/>
                <a:cs typeface="Arial"/>
              </a:defRPr>
            </a:pPr>
            <a:r>
              <a:rPr sz="1350" b="0">
                <a:solidFill>
                  <a:srgbClr val="91AFC2"/>
                </a:solidFill>
                <a:latin typeface="Arial"/>
                <a:ea typeface="Arial"/>
                <a:cs typeface="Arial"/>
              </a:rPr>
              <a:t>Security investigation portfolio presentation</a:t>
            </a:r>
          </a:p>
        </p:txBody>
      </p:sp>
      <p:sp>
        <p:nvSpPr>
          <p:cNvPr id="7" name="Rounded Rectangle 6">
            <a:extLst>
              <a:ext uri="{FF2B5EF4-FFF2-40B4-BE49-F238E27FC236}">
                <a16:creationId xmlns:a16="http://schemas.microsoft.com/office/drawing/2014/main" id="{5C412606-3D26-402D-9DFD-175039EC8420}"/>
              </a:ext>
            </a:extLst>
          </p:cNvPr>
          <p:cNvSpPr>
            <a:spLocks noGrp="1"/>
          </p:cNvSpPr>
          <p:nvPr/>
        </p:nvSpPr>
        <p:spPr>
          <a:xfrm>
            <a:off x="9544050" y="838200"/>
            <a:ext cx="1733550" cy="1733550"/>
          </a:xfrm>
          <a:prstGeom prst="roundRect">
            <a:avLst>
              <a:gd name="adj" fmla="val 4396"/>
            </a:avLst>
          </a:prstGeom>
          <a:solidFill>
            <a:srgbClr val="0B3454"/>
          </a:solidFill>
          <a:ln w="9525">
            <a:solidFill>
              <a:srgbClr val="42BCEB"/>
            </a:solidFill>
            <a:prstDash val="solid"/>
          </a:ln>
        </p:spPr>
        <p:txBody>
          <a:bodyPr/>
          <a:lstStyle/>
          <a:p>
            <a:endParaRPr lang="en-US"/>
          </a:p>
        </p:txBody>
      </p:sp>
      <p:sp>
        <p:nvSpPr>
          <p:cNvPr id="8" name="Rectangle 7">
            <a:extLst>
              <a:ext uri="{FF2B5EF4-FFF2-40B4-BE49-F238E27FC236}">
                <a16:creationId xmlns:a16="http://schemas.microsoft.com/office/drawing/2014/main" id="{21A58C0E-471E-425E-A43A-3908EFADD81D}"/>
              </a:ext>
            </a:extLst>
          </p:cNvPr>
          <p:cNvSpPr>
            <a:spLocks noGrp="1"/>
          </p:cNvSpPr>
          <p:nvPr/>
        </p:nvSpPr>
        <p:spPr>
          <a:xfrm>
            <a:off x="9867900" y="1219200"/>
            <a:ext cx="1143000" cy="685800"/>
          </a:xfrm>
          <a:prstGeom prst="rect">
            <a:avLst/>
          </a:prstGeom>
          <a:noFill/>
          <a:ln w="0">
            <a:noFill/>
            <a:prstDash val="solid"/>
          </a:ln>
        </p:spPr>
        <p:txBody>
          <a:bodyPr>
            <a:normAutofit/>
          </a:bodyPr>
          <a:lstStyle>
            <a:defPPr algn="ctr">
              <a:defRPr sz="3750" b="1">
                <a:solidFill>
                  <a:srgbClr val="FFFFFF"/>
                </a:solidFill>
                <a:latin typeface="Arial"/>
                <a:ea typeface="Arial"/>
                <a:cs typeface="Arial"/>
              </a:defRPr>
            </a:defPPr>
          </a:lstStyle>
          <a:p>
            <a:pPr algn="ctr">
              <a:defRPr sz="3750" b="1">
                <a:solidFill>
                  <a:srgbClr val="FFFFFF"/>
                </a:solidFill>
                <a:latin typeface="Arial"/>
                <a:ea typeface="Arial"/>
                <a:cs typeface="Arial"/>
              </a:defRPr>
            </a:pPr>
            <a:r>
              <a:rPr sz="3750" b="1">
                <a:solidFill>
                  <a:srgbClr val="FFFFFF"/>
                </a:solidFill>
                <a:latin typeface="Arial"/>
                <a:ea typeface="Arial"/>
                <a:cs typeface="Arial"/>
              </a:rPr>
              <a:t>KC7</a:t>
            </a:r>
          </a:p>
        </p:txBody>
      </p:sp>
      <p:sp>
        <p:nvSpPr>
          <p:cNvPr id="9" name="Rectangle 8">
            <a:extLst>
              <a:ext uri="{FF2B5EF4-FFF2-40B4-BE49-F238E27FC236}">
                <a16:creationId xmlns:a16="http://schemas.microsoft.com/office/drawing/2014/main" id="{D17ED226-566E-48CA-A751-12CB6B425770}"/>
              </a:ext>
            </a:extLst>
          </p:cNvPr>
          <p:cNvSpPr>
            <a:spLocks noGrp="1"/>
          </p:cNvSpPr>
          <p:nvPr/>
        </p:nvSpPr>
        <p:spPr>
          <a:xfrm>
            <a:off x="9867900" y="1885950"/>
            <a:ext cx="1143000" cy="323850"/>
          </a:xfrm>
          <a:prstGeom prst="rect">
            <a:avLst/>
          </a:prstGeom>
          <a:noFill/>
          <a:ln w="0">
            <a:noFill/>
            <a:prstDash val="solid"/>
          </a:ln>
        </p:spPr>
        <p:txBody>
          <a:bodyPr>
            <a:normAutofit/>
          </a:bodyPr>
          <a:lstStyle>
            <a:defPPr algn="ctr">
              <a:defRPr sz="1200" b="1">
                <a:solidFill>
                  <a:srgbClr val="FF6A2A"/>
                </a:solidFill>
                <a:latin typeface="Arial"/>
                <a:ea typeface="Arial"/>
                <a:cs typeface="Arial"/>
              </a:defRPr>
            </a:defPPr>
          </a:lstStyle>
          <a:p>
            <a:pPr algn="ctr">
              <a:defRPr sz="1200" b="1">
                <a:solidFill>
                  <a:srgbClr val="FF6A2A"/>
                </a:solidFill>
                <a:latin typeface="Arial"/>
                <a:ea typeface="Arial"/>
                <a:cs typeface="Arial"/>
              </a:defRPr>
            </a:pPr>
            <a:r>
              <a:rPr sz="1200" b="1">
                <a:solidFill>
                  <a:srgbClr val="FF6A2A"/>
                </a:solidFill>
                <a:latin typeface="Arial"/>
                <a:ea typeface="Arial"/>
                <a:cs typeface="Arial"/>
              </a:rPr>
              <a:t>CYBER</a:t>
            </a:r>
          </a:p>
        </p:txBody>
      </p:sp>
    </p:spTree>
    <p:extLst>
      <p:ext uri="{BB962C8B-B14F-4D97-AF65-F5344CB8AC3E}">
        <p14:creationId xmlns:p14="http://schemas.microsoft.com/office/powerpoint/2010/main" val="949805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E519986-1EE0-4097-915D-B39583AD1FE3}"/>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152033"/>
                </a:solidFill>
                <a:latin typeface="Arial"/>
                <a:ea typeface="Arial"/>
                <a:cs typeface="Arial"/>
              </a:defRPr>
            </a:defPPr>
          </a:lstStyle>
          <a:p>
            <a:pPr algn="l">
              <a:defRPr sz="2550" b="1">
                <a:solidFill>
                  <a:srgbClr val="152033"/>
                </a:solidFill>
                <a:latin typeface="Arial"/>
                <a:ea typeface="Arial"/>
                <a:cs typeface="Arial"/>
              </a:defRPr>
            </a:pPr>
            <a:r>
              <a:rPr sz="2550" b="1">
                <a:solidFill>
                  <a:srgbClr val="152033"/>
                </a:solidFill>
                <a:latin typeface="Arial"/>
                <a:ea typeface="Arial"/>
                <a:cs typeface="Arial"/>
              </a:rPr>
              <a:t>Challenge and investigation goals</a:t>
            </a:r>
          </a:p>
        </p:txBody>
      </p:sp>
      <p:sp>
        <p:nvSpPr>
          <p:cNvPr id="2" name="Rectangle 1">
            <a:extLst>
              <a:ext uri="{FF2B5EF4-FFF2-40B4-BE49-F238E27FC236}">
                <a16:creationId xmlns:a16="http://schemas.microsoft.com/office/drawing/2014/main" id="{03B5DBA0-8F04-4345-B376-0A3B47EBF9BC}"/>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566275"/>
                </a:solidFill>
                <a:latin typeface="Arial"/>
                <a:ea typeface="Arial"/>
                <a:cs typeface="Arial"/>
              </a:defRPr>
            </a:defPPr>
          </a:lstStyle>
          <a:p>
            <a:pPr algn="l">
              <a:defRPr sz="1350" b="0">
                <a:solidFill>
                  <a:srgbClr val="566275"/>
                </a:solidFill>
                <a:latin typeface="Arial"/>
                <a:ea typeface="Arial"/>
                <a:cs typeface="Arial"/>
              </a:defRPr>
            </a:pPr>
            <a:r>
              <a:rPr sz="1350" b="0">
                <a:solidFill>
                  <a:srgbClr val="566275"/>
                </a:solidFill>
                <a:latin typeface="Arial"/>
                <a:ea typeface="Arial"/>
                <a:cs typeface="Arial"/>
              </a:rPr>
              <a:t>A guided security investigation using realistic network, email and authentication logs</a:t>
            </a:r>
          </a:p>
        </p:txBody>
      </p:sp>
      <p:sp>
        <p:nvSpPr>
          <p:cNvPr id="3" name="Rectangle 2">
            <a:extLst>
              <a:ext uri="{FF2B5EF4-FFF2-40B4-BE49-F238E27FC236}">
                <a16:creationId xmlns:a16="http://schemas.microsoft.com/office/drawing/2014/main" id="{D6CB9B71-0DCE-4DC3-A234-E423860C4A09}"/>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sp>
        <p:nvSpPr>
          <p:cNvPr id="4" name="Rectangle 3">
            <a:extLst>
              <a:ext uri="{FF2B5EF4-FFF2-40B4-BE49-F238E27FC236}">
                <a16:creationId xmlns:a16="http://schemas.microsoft.com/office/drawing/2014/main" id="{47BF42B1-74FE-48CF-8AC3-E26C209D172D}"/>
              </a:ext>
            </a:extLst>
          </p:cNvPr>
          <p:cNvSpPr>
            <a:spLocks noGrp="1"/>
          </p:cNvSpPr>
          <p:nvPr/>
        </p:nvSpPr>
        <p:spPr>
          <a:xfrm>
            <a:off x="685800" y="1657350"/>
            <a:ext cx="3905250" cy="361950"/>
          </a:xfrm>
          <a:prstGeom prst="rect">
            <a:avLst/>
          </a:prstGeom>
          <a:noFill/>
          <a:ln w="0">
            <a:noFill/>
            <a:prstDash val="solid"/>
          </a:ln>
        </p:spPr>
        <p:txBody>
          <a:bodyPr>
            <a:normAutofit fontScale="94667"/>
          </a:bodyPr>
          <a:lstStyle>
            <a:defPPr algn="l">
              <a:defRPr sz="1875" b="1">
                <a:solidFill>
                  <a:srgbClr val="0B3454"/>
                </a:solidFill>
                <a:latin typeface="Arial"/>
                <a:ea typeface="Arial"/>
                <a:cs typeface="Arial"/>
              </a:defRPr>
            </a:defPPr>
          </a:lstStyle>
          <a:p>
            <a:pPr algn="l">
              <a:defRPr sz="1875" b="1">
                <a:solidFill>
                  <a:srgbClr val="0B3454"/>
                </a:solidFill>
                <a:latin typeface="Arial"/>
                <a:ea typeface="Arial"/>
                <a:cs typeface="Arial"/>
              </a:defRPr>
            </a:pPr>
            <a:r>
              <a:rPr sz="1875" b="1">
                <a:solidFill>
                  <a:srgbClr val="0B3454"/>
                </a:solidFill>
                <a:latin typeface="Arial"/>
                <a:ea typeface="Arial"/>
                <a:cs typeface="Arial"/>
              </a:rPr>
              <a:t>The challenge</a:t>
            </a:r>
          </a:p>
        </p:txBody>
      </p:sp>
      <p:sp>
        <p:nvSpPr>
          <p:cNvPr id="5" name="Rectangle 4">
            <a:extLst>
              <a:ext uri="{FF2B5EF4-FFF2-40B4-BE49-F238E27FC236}">
                <a16:creationId xmlns:a16="http://schemas.microsoft.com/office/drawing/2014/main" id="{15FC1005-6E3F-4CE9-A44C-4F2BA08F1B7A}"/>
              </a:ext>
            </a:extLst>
          </p:cNvPr>
          <p:cNvSpPr>
            <a:spLocks noGrp="1"/>
          </p:cNvSpPr>
          <p:nvPr/>
        </p:nvSpPr>
        <p:spPr>
          <a:xfrm>
            <a:off x="685800" y="2114550"/>
            <a:ext cx="4191000" cy="1809750"/>
          </a:xfrm>
          <a:prstGeom prst="rect">
            <a:avLst/>
          </a:prstGeom>
          <a:noFill/>
          <a:ln w="0">
            <a:noFill/>
            <a:prstDash val="solid"/>
          </a:ln>
        </p:spPr>
        <p:txBody>
          <a:bodyPr>
            <a:normAutofit/>
          </a:bodyPr>
          <a:lstStyle>
            <a:defPPr algn="l">
              <a:defRPr sz="1575" b="0">
                <a:solidFill>
                  <a:srgbClr val="152033"/>
                </a:solidFill>
                <a:latin typeface="Arial"/>
                <a:ea typeface="Arial"/>
                <a:cs typeface="Arial"/>
              </a:defRPr>
            </a:defPPr>
          </a:lstStyle>
          <a:p>
            <a:pPr algn="l">
              <a:defRPr sz="1575" b="0">
                <a:solidFill>
                  <a:srgbClr val="152033"/>
                </a:solidFill>
                <a:latin typeface="Arial"/>
                <a:ea typeface="Arial"/>
                <a:cs typeface="Arial"/>
              </a:defRPr>
            </a:pPr>
            <a:r>
              <a:rPr sz="1575" b="0">
                <a:solidFill>
                  <a:srgbClr val="152033"/>
                </a:solidFill>
                <a:latin typeface="Arial"/>
                <a:ea typeface="Arial"/>
                <a:cs typeface="Arial"/>
              </a:rPr>
              <a:t>KC7 placed me in the role of a security analyst investigating suspicious activity at the fictional OWL Records company. The case required me to connect evidence across several log sources rather than solve one isolated question.</a:t>
            </a:r>
          </a:p>
        </p:txBody>
      </p:sp>
      <p:sp>
        <p:nvSpPr>
          <p:cNvPr id="6" name="Rectangle 5">
            <a:extLst>
              <a:ext uri="{FF2B5EF4-FFF2-40B4-BE49-F238E27FC236}">
                <a16:creationId xmlns:a16="http://schemas.microsoft.com/office/drawing/2014/main" id="{7E923E35-4F1D-492C-9A5D-1F0E1B92F1D0}"/>
              </a:ext>
            </a:extLst>
          </p:cNvPr>
          <p:cNvSpPr>
            <a:spLocks noGrp="1"/>
          </p:cNvSpPr>
          <p:nvPr/>
        </p:nvSpPr>
        <p:spPr>
          <a:xfrm>
            <a:off x="5286375" y="1657350"/>
            <a:ext cx="28575" cy="3867150"/>
          </a:xfrm>
          <a:prstGeom prst="rect">
            <a:avLst/>
          </a:prstGeom>
          <a:solidFill>
            <a:srgbClr val="CBD6E1"/>
          </a:solidFill>
          <a:ln w="9525">
            <a:solidFill>
              <a:srgbClr val="CBD6E1"/>
            </a:solidFill>
            <a:prstDash val="solid"/>
          </a:ln>
        </p:spPr>
        <p:txBody>
          <a:bodyPr/>
          <a:lstStyle/>
          <a:p>
            <a:endParaRPr lang="en-US"/>
          </a:p>
        </p:txBody>
      </p:sp>
      <p:sp>
        <p:nvSpPr>
          <p:cNvPr id="7" name="Rectangle 6">
            <a:extLst>
              <a:ext uri="{FF2B5EF4-FFF2-40B4-BE49-F238E27FC236}">
                <a16:creationId xmlns:a16="http://schemas.microsoft.com/office/drawing/2014/main" id="{4BB090F8-EC60-4F1C-B3FB-C56192169770}"/>
              </a:ext>
            </a:extLst>
          </p:cNvPr>
          <p:cNvSpPr>
            <a:spLocks noGrp="1"/>
          </p:cNvSpPr>
          <p:nvPr/>
        </p:nvSpPr>
        <p:spPr>
          <a:xfrm>
            <a:off x="5810250" y="1676400"/>
            <a:ext cx="685800" cy="323850"/>
          </a:xfrm>
          <a:prstGeom prst="rect">
            <a:avLst/>
          </a:prstGeom>
          <a:noFill/>
          <a:ln w="0">
            <a:noFill/>
            <a:prstDash val="solid"/>
          </a:ln>
        </p:spPr>
        <p:txBody>
          <a:bodyPr>
            <a:normAutofit/>
          </a:bodyPr>
          <a:lstStyle>
            <a:defPPr algn="l">
              <a:defRPr sz="1500" b="1">
                <a:solidFill>
                  <a:srgbClr val="FF6A2A"/>
                </a:solidFill>
                <a:latin typeface="Arial"/>
                <a:ea typeface="Arial"/>
                <a:cs typeface="Arial"/>
              </a:defRPr>
            </a:defPPr>
          </a:lstStyle>
          <a:p>
            <a:pPr algn="l">
              <a:defRPr sz="1500" b="1">
                <a:solidFill>
                  <a:srgbClr val="FF6A2A"/>
                </a:solidFill>
                <a:latin typeface="Arial"/>
                <a:ea typeface="Arial"/>
                <a:cs typeface="Arial"/>
              </a:defRPr>
            </a:pPr>
            <a:r>
              <a:rPr sz="1500" b="1">
                <a:solidFill>
                  <a:srgbClr val="FF6A2A"/>
                </a:solidFill>
                <a:latin typeface="Arial"/>
                <a:ea typeface="Arial"/>
                <a:cs typeface="Arial"/>
              </a:rPr>
              <a:t>01</a:t>
            </a:r>
          </a:p>
        </p:txBody>
      </p:sp>
      <p:sp>
        <p:nvSpPr>
          <p:cNvPr id="8" name="Rectangle 7">
            <a:extLst>
              <a:ext uri="{FF2B5EF4-FFF2-40B4-BE49-F238E27FC236}">
                <a16:creationId xmlns:a16="http://schemas.microsoft.com/office/drawing/2014/main" id="{C4B6C54F-2E83-4CC5-8589-89CD31EB7667}"/>
              </a:ext>
            </a:extLst>
          </p:cNvPr>
          <p:cNvSpPr>
            <a:spLocks noGrp="1"/>
          </p:cNvSpPr>
          <p:nvPr/>
        </p:nvSpPr>
        <p:spPr>
          <a:xfrm>
            <a:off x="6553200" y="1657350"/>
            <a:ext cx="4095750" cy="381000"/>
          </a:xfrm>
          <a:prstGeom prst="rect">
            <a:avLst/>
          </a:prstGeom>
          <a:noFill/>
          <a:ln w="0">
            <a:noFill/>
            <a:prstDash val="solid"/>
          </a:ln>
        </p:spPr>
        <p:txBody>
          <a:bodyPr>
            <a:normAutofit/>
          </a:bodyPr>
          <a:lstStyle>
            <a:defPPr algn="l">
              <a:defRPr sz="1800" b="1">
                <a:solidFill>
                  <a:srgbClr val="0B3454"/>
                </a:solidFill>
                <a:latin typeface="Arial"/>
                <a:ea typeface="Arial"/>
                <a:cs typeface="Arial"/>
              </a:defRPr>
            </a:defPPr>
          </a:lstStyle>
          <a:p>
            <a:pPr algn="l">
              <a:defRPr sz="1800" b="1">
                <a:solidFill>
                  <a:srgbClr val="0B3454"/>
                </a:solidFill>
                <a:latin typeface="Arial"/>
                <a:ea typeface="Arial"/>
                <a:cs typeface="Arial"/>
              </a:defRPr>
            </a:pPr>
            <a:r>
              <a:rPr sz="1800" b="1">
                <a:solidFill>
                  <a:srgbClr val="0B3454"/>
                </a:solidFill>
                <a:latin typeface="Arial"/>
                <a:ea typeface="Arial"/>
                <a:cs typeface="Arial"/>
              </a:rPr>
              <a:t>Identify the adversary</a:t>
            </a:r>
          </a:p>
        </p:txBody>
      </p:sp>
      <p:sp>
        <p:nvSpPr>
          <p:cNvPr id="9" name="Rectangle 8">
            <a:extLst>
              <a:ext uri="{FF2B5EF4-FFF2-40B4-BE49-F238E27FC236}">
                <a16:creationId xmlns:a16="http://schemas.microsoft.com/office/drawing/2014/main" id="{D1388E61-3DCF-45DF-BD95-D367BF3899DD}"/>
              </a:ext>
            </a:extLst>
          </p:cNvPr>
          <p:cNvSpPr>
            <a:spLocks noGrp="1"/>
          </p:cNvSpPr>
          <p:nvPr/>
        </p:nvSpPr>
        <p:spPr>
          <a:xfrm>
            <a:off x="6553200" y="2057400"/>
            <a:ext cx="4381500" cy="609600"/>
          </a:xfrm>
          <a:prstGeom prst="rect">
            <a:avLst/>
          </a:prstGeom>
          <a:noFill/>
          <a:ln w="0">
            <a:noFill/>
            <a:prstDash val="solid"/>
          </a:ln>
        </p:spPr>
        <p:txBody>
          <a:bodyPr>
            <a:normAutofit/>
          </a:bodyPr>
          <a:lstStyle>
            <a:defPPr algn="l">
              <a:defRPr sz="1425" b="0">
                <a:solidFill>
                  <a:srgbClr val="566275"/>
                </a:solidFill>
                <a:latin typeface="Arial"/>
                <a:ea typeface="Arial"/>
                <a:cs typeface="Arial"/>
              </a:defRPr>
            </a:defPPr>
          </a:lstStyle>
          <a:p>
            <a:pPr algn="l">
              <a:defRPr sz="1425" b="0">
                <a:solidFill>
                  <a:srgbClr val="566275"/>
                </a:solidFill>
                <a:latin typeface="Arial"/>
                <a:ea typeface="Arial"/>
                <a:cs typeface="Arial"/>
              </a:defRPr>
            </a:pPr>
            <a:r>
              <a:rPr sz="1425" b="0">
                <a:solidFill>
                  <a:srgbClr val="566275"/>
                </a:solidFill>
                <a:latin typeface="Arial"/>
                <a:ea typeface="Arial"/>
                <a:cs typeface="Arial"/>
              </a:rPr>
              <a:t>Trace infrastructure, sender details and the target account.</a:t>
            </a:r>
          </a:p>
        </p:txBody>
      </p:sp>
      <p:sp>
        <p:nvSpPr>
          <p:cNvPr id="10" name="Rectangle 9">
            <a:extLst>
              <a:ext uri="{FF2B5EF4-FFF2-40B4-BE49-F238E27FC236}">
                <a16:creationId xmlns:a16="http://schemas.microsoft.com/office/drawing/2014/main" id="{04DE3CE9-501E-4A64-910C-24E0B15CA495}"/>
              </a:ext>
            </a:extLst>
          </p:cNvPr>
          <p:cNvSpPr>
            <a:spLocks noGrp="1"/>
          </p:cNvSpPr>
          <p:nvPr/>
        </p:nvSpPr>
        <p:spPr>
          <a:xfrm>
            <a:off x="5810250" y="2933700"/>
            <a:ext cx="685800" cy="323850"/>
          </a:xfrm>
          <a:prstGeom prst="rect">
            <a:avLst/>
          </a:prstGeom>
          <a:noFill/>
          <a:ln w="0">
            <a:noFill/>
            <a:prstDash val="solid"/>
          </a:ln>
        </p:spPr>
        <p:txBody>
          <a:bodyPr>
            <a:normAutofit/>
          </a:bodyPr>
          <a:lstStyle>
            <a:defPPr algn="l">
              <a:defRPr sz="1500" b="1">
                <a:solidFill>
                  <a:srgbClr val="FF6A2A"/>
                </a:solidFill>
                <a:latin typeface="Arial"/>
                <a:ea typeface="Arial"/>
                <a:cs typeface="Arial"/>
              </a:defRPr>
            </a:defPPr>
          </a:lstStyle>
          <a:p>
            <a:pPr algn="l">
              <a:defRPr sz="1500" b="1">
                <a:solidFill>
                  <a:srgbClr val="FF6A2A"/>
                </a:solidFill>
                <a:latin typeface="Arial"/>
                <a:ea typeface="Arial"/>
                <a:cs typeface="Arial"/>
              </a:defRPr>
            </a:pPr>
            <a:r>
              <a:rPr sz="1500" b="1">
                <a:solidFill>
                  <a:srgbClr val="FF6A2A"/>
                </a:solidFill>
                <a:latin typeface="Arial"/>
                <a:ea typeface="Arial"/>
                <a:cs typeface="Arial"/>
              </a:rPr>
              <a:t>02</a:t>
            </a:r>
          </a:p>
        </p:txBody>
      </p:sp>
      <p:sp>
        <p:nvSpPr>
          <p:cNvPr id="11" name="Rectangle 10">
            <a:extLst>
              <a:ext uri="{FF2B5EF4-FFF2-40B4-BE49-F238E27FC236}">
                <a16:creationId xmlns:a16="http://schemas.microsoft.com/office/drawing/2014/main" id="{5847D889-1D4F-42E1-95E9-925A9CD40EB4}"/>
              </a:ext>
            </a:extLst>
          </p:cNvPr>
          <p:cNvSpPr>
            <a:spLocks noGrp="1"/>
          </p:cNvSpPr>
          <p:nvPr/>
        </p:nvSpPr>
        <p:spPr>
          <a:xfrm>
            <a:off x="6553200" y="2914650"/>
            <a:ext cx="4095750" cy="381000"/>
          </a:xfrm>
          <a:prstGeom prst="rect">
            <a:avLst/>
          </a:prstGeom>
          <a:noFill/>
          <a:ln w="0">
            <a:noFill/>
            <a:prstDash val="solid"/>
          </a:ln>
        </p:spPr>
        <p:txBody>
          <a:bodyPr>
            <a:normAutofit/>
          </a:bodyPr>
          <a:lstStyle>
            <a:defPPr algn="l">
              <a:defRPr sz="1800" b="1">
                <a:solidFill>
                  <a:srgbClr val="0B3454"/>
                </a:solidFill>
                <a:latin typeface="Arial"/>
                <a:ea typeface="Arial"/>
                <a:cs typeface="Arial"/>
              </a:defRPr>
            </a:defPPr>
          </a:lstStyle>
          <a:p>
            <a:pPr algn="l">
              <a:defRPr sz="1800" b="1">
                <a:solidFill>
                  <a:srgbClr val="0B3454"/>
                </a:solidFill>
                <a:latin typeface="Arial"/>
                <a:ea typeface="Arial"/>
                <a:cs typeface="Arial"/>
              </a:defRPr>
            </a:pPr>
            <a:r>
              <a:rPr sz="1800" b="1">
                <a:solidFill>
                  <a:srgbClr val="0B3454"/>
                </a:solidFill>
                <a:latin typeface="Arial"/>
                <a:ea typeface="Arial"/>
                <a:cs typeface="Arial"/>
              </a:rPr>
              <a:t>Reconstruct the attack</a:t>
            </a:r>
          </a:p>
        </p:txBody>
      </p:sp>
      <p:sp>
        <p:nvSpPr>
          <p:cNvPr id="12" name="Rectangle 11">
            <a:extLst>
              <a:ext uri="{FF2B5EF4-FFF2-40B4-BE49-F238E27FC236}">
                <a16:creationId xmlns:a16="http://schemas.microsoft.com/office/drawing/2014/main" id="{C45F6047-FCE8-4FC9-A48A-6756D6A9BFFB}"/>
              </a:ext>
            </a:extLst>
          </p:cNvPr>
          <p:cNvSpPr>
            <a:spLocks noGrp="1"/>
          </p:cNvSpPr>
          <p:nvPr/>
        </p:nvSpPr>
        <p:spPr>
          <a:xfrm>
            <a:off x="6553200" y="3314700"/>
            <a:ext cx="4381500" cy="609600"/>
          </a:xfrm>
          <a:prstGeom prst="rect">
            <a:avLst/>
          </a:prstGeom>
          <a:noFill/>
          <a:ln w="0">
            <a:noFill/>
            <a:prstDash val="solid"/>
          </a:ln>
        </p:spPr>
        <p:txBody>
          <a:bodyPr>
            <a:normAutofit/>
          </a:bodyPr>
          <a:lstStyle>
            <a:defPPr algn="l">
              <a:defRPr sz="1425" b="0">
                <a:solidFill>
                  <a:srgbClr val="566275"/>
                </a:solidFill>
                <a:latin typeface="Arial"/>
                <a:ea typeface="Arial"/>
                <a:cs typeface="Arial"/>
              </a:defRPr>
            </a:defPPr>
          </a:lstStyle>
          <a:p>
            <a:pPr algn="l">
              <a:defRPr sz="1425" b="0">
                <a:solidFill>
                  <a:srgbClr val="566275"/>
                </a:solidFill>
                <a:latin typeface="Arial"/>
                <a:ea typeface="Arial"/>
                <a:cs typeface="Arial"/>
              </a:defRPr>
            </a:pPr>
            <a:r>
              <a:rPr sz="1425" b="0">
                <a:solidFill>
                  <a:srgbClr val="566275"/>
                </a:solidFill>
                <a:latin typeface="Arial"/>
                <a:ea typeface="Arial"/>
                <a:cs typeface="Arial"/>
              </a:rPr>
              <a:t>Build an evidence-based sequence from reconnaissance to impact.</a:t>
            </a:r>
          </a:p>
        </p:txBody>
      </p:sp>
      <p:sp>
        <p:nvSpPr>
          <p:cNvPr id="13" name="Rectangle 12">
            <a:extLst>
              <a:ext uri="{FF2B5EF4-FFF2-40B4-BE49-F238E27FC236}">
                <a16:creationId xmlns:a16="http://schemas.microsoft.com/office/drawing/2014/main" id="{B854BE16-04CE-48D3-B2A4-4ADDCF1D2545}"/>
              </a:ext>
            </a:extLst>
          </p:cNvPr>
          <p:cNvSpPr>
            <a:spLocks noGrp="1"/>
          </p:cNvSpPr>
          <p:nvPr/>
        </p:nvSpPr>
        <p:spPr>
          <a:xfrm>
            <a:off x="5810250" y="4191000"/>
            <a:ext cx="685800" cy="323850"/>
          </a:xfrm>
          <a:prstGeom prst="rect">
            <a:avLst/>
          </a:prstGeom>
          <a:noFill/>
          <a:ln w="0">
            <a:noFill/>
            <a:prstDash val="solid"/>
          </a:ln>
        </p:spPr>
        <p:txBody>
          <a:bodyPr>
            <a:normAutofit/>
          </a:bodyPr>
          <a:lstStyle>
            <a:defPPr algn="l">
              <a:defRPr sz="1500" b="1">
                <a:solidFill>
                  <a:srgbClr val="FF6A2A"/>
                </a:solidFill>
                <a:latin typeface="Arial"/>
                <a:ea typeface="Arial"/>
                <a:cs typeface="Arial"/>
              </a:defRPr>
            </a:defPPr>
          </a:lstStyle>
          <a:p>
            <a:pPr algn="l">
              <a:defRPr sz="1500" b="1">
                <a:solidFill>
                  <a:srgbClr val="FF6A2A"/>
                </a:solidFill>
                <a:latin typeface="Arial"/>
                <a:ea typeface="Arial"/>
                <a:cs typeface="Arial"/>
              </a:defRPr>
            </a:pPr>
            <a:r>
              <a:rPr sz="1500" b="1">
                <a:solidFill>
                  <a:srgbClr val="FF6A2A"/>
                </a:solidFill>
                <a:latin typeface="Arial"/>
                <a:ea typeface="Arial"/>
                <a:cs typeface="Arial"/>
              </a:rPr>
              <a:t>03</a:t>
            </a:r>
          </a:p>
        </p:txBody>
      </p:sp>
      <p:sp>
        <p:nvSpPr>
          <p:cNvPr id="14" name="Rectangle 13">
            <a:extLst>
              <a:ext uri="{FF2B5EF4-FFF2-40B4-BE49-F238E27FC236}">
                <a16:creationId xmlns:a16="http://schemas.microsoft.com/office/drawing/2014/main" id="{4164EEC7-D75E-4EAF-BC7E-FE2A20240AB3}"/>
              </a:ext>
            </a:extLst>
          </p:cNvPr>
          <p:cNvSpPr>
            <a:spLocks noGrp="1"/>
          </p:cNvSpPr>
          <p:nvPr/>
        </p:nvSpPr>
        <p:spPr>
          <a:xfrm>
            <a:off x="6553200" y="4171950"/>
            <a:ext cx="4095750" cy="381000"/>
          </a:xfrm>
          <a:prstGeom prst="rect">
            <a:avLst/>
          </a:prstGeom>
          <a:noFill/>
          <a:ln w="0">
            <a:noFill/>
            <a:prstDash val="solid"/>
          </a:ln>
        </p:spPr>
        <p:txBody>
          <a:bodyPr>
            <a:normAutofit/>
          </a:bodyPr>
          <a:lstStyle>
            <a:defPPr algn="l">
              <a:defRPr sz="1800" b="1">
                <a:solidFill>
                  <a:srgbClr val="0B3454"/>
                </a:solidFill>
                <a:latin typeface="Arial"/>
                <a:ea typeface="Arial"/>
                <a:cs typeface="Arial"/>
              </a:defRPr>
            </a:defPPr>
          </a:lstStyle>
          <a:p>
            <a:pPr algn="l">
              <a:defRPr sz="1800" b="1">
                <a:solidFill>
                  <a:srgbClr val="0B3454"/>
                </a:solidFill>
                <a:latin typeface="Arial"/>
                <a:ea typeface="Arial"/>
                <a:cs typeface="Arial"/>
              </a:defRPr>
            </a:pPr>
            <a:r>
              <a:rPr sz="1800" b="1">
                <a:solidFill>
                  <a:srgbClr val="0B3454"/>
                </a:solidFill>
                <a:latin typeface="Arial"/>
                <a:ea typeface="Arial"/>
                <a:cs typeface="Arial"/>
              </a:rPr>
              <a:t>Recommend controls</a:t>
            </a:r>
          </a:p>
        </p:txBody>
      </p:sp>
      <p:sp>
        <p:nvSpPr>
          <p:cNvPr id="15" name="Rectangle 14">
            <a:extLst>
              <a:ext uri="{FF2B5EF4-FFF2-40B4-BE49-F238E27FC236}">
                <a16:creationId xmlns:a16="http://schemas.microsoft.com/office/drawing/2014/main" id="{50CE5286-B20C-496E-B0A0-FE17944B593B}"/>
              </a:ext>
            </a:extLst>
          </p:cNvPr>
          <p:cNvSpPr>
            <a:spLocks noGrp="1"/>
          </p:cNvSpPr>
          <p:nvPr/>
        </p:nvSpPr>
        <p:spPr>
          <a:xfrm>
            <a:off x="6553200" y="4572000"/>
            <a:ext cx="4381500" cy="609600"/>
          </a:xfrm>
          <a:prstGeom prst="rect">
            <a:avLst/>
          </a:prstGeom>
          <a:noFill/>
          <a:ln w="0">
            <a:noFill/>
            <a:prstDash val="solid"/>
          </a:ln>
        </p:spPr>
        <p:txBody>
          <a:bodyPr>
            <a:normAutofit/>
          </a:bodyPr>
          <a:lstStyle>
            <a:defPPr algn="l">
              <a:defRPr sz="1425" b="0">
                <a:solidFill>
                  <a:srgbClr val="566275"/>
                </a:solidFill>
                <a:latin typeface="Arial"/>
                <a:ea typeface="Arial"/>
                <a:cs typeface="Arial"/>
              </a:defRPr>
            </a:defPPr>
          </a:lstStyle>
          <a:p>
            <a:pPr algn="l">
              <a:defRPr sz="1425" b="0">
                <a:solidFill>
                  <a:srgbClr val="566275"/>
                </a:solidFill>
                <a:latin typeface="Arial"/>
                <a:ea typeface="Arial"/>
                <a:cs typeface="Arial"/>
              </a:defRPr>
            </a:pPr>
            <a:r>
              <a:rPr sz="1425" b="0">
                <a:solidFill>
                  <a:srgbClr val="566275"/>
                </a:solidFill>
                <a:latin typeface="Arial"/>
                <a:ea typeface="Arial"/>
                <a:cs typeface="Arial"/>
              </a:rPr>
              <a:t>Link the findings to IAM, human factors, SOC practice and NIST CSF 2.0.</a:t>
            </a:r>
          </a:p>
        </p:txBody>
      </p:sp>
      <p:sp>
        <p:nvSpPr>
          <p:cNvPr id="16" name="Rectangle 15">
            <a:extLst>
              <a:ext uri="{FF2B5EF4-FFF2-40B4-BE49-F238E27FC236}">
                <a16:creationId xmlns:a16="http://schemas.microsoft.com/office/drawing/2014/main" id="{EAA9045B-2D94-428C-9093-340A5067D761}"/>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7A8795"/>
                </a:solidFill>
                <a:latin typeface="Arial"/>
                <a:ea typeface="Arial"/>
                <a:cs typeface="Arial"/>
              </a:defRPr>
            </a:defPPr>
          </a:lstStyle>
          <a:p>
            <a:pPr algn="l">
              <a:defRPr sz="825" b="1">
                <a:solidFill>
                  <a:srgbClr val="7A8795"/>
                </a:solidFill>
                <a:latin typeface="Arial"/>
                <a:ea typeface="Arial"/>
                <a:cs typeface="Arial"/>
              </a:defRPr>
            </a:pPr>
            <a:r>
              <a:rPr sz="825" b="1">
                <a:solidFill>
                  <a:srgbClr val="7A8795"/>
                </a:solidFill>
                <a:latin typeface="Arial"/>
                <a:ea typeface="Arial"/>
                <a:cs typeface="Arial"/>
              </a:rPr>
              <a:t>ITECH1502  |  KC7 A Rap Beef</a:t>
            </a:r>
          </a:p>
        </p:txBody>
      </p:sp>
      <p:sp>
        <p:nvSpPr>
          <p:cNvPr id="17" name="Rectangle 16">
            <a:extLst>
              <a:ext uri="{FF2B5EF4-FFF2-40B4-BE49-F238E27FC236}">
                <a16:creationId xmlns:a16="http://schemas.microsoft.com/office/drawing/2014/main" id="{11850B11-8E7A-4872-BE80-CDF0BBB71225}"/>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0B3454"/>
                </a:solidFill>
                <a:latin typeface="Arial"/>
                <a:ea typeface="Arial"/>
                <a:cs typeface="Arial"/>
              </a:defRPr>
            </a:defPPr>
          </a:lstStyle>
          <a:p>
            <a:pPr algn="r">
              <a:defRPr sz="900" b="1">
                <a:solidFill>
                  <a:srgbClr val="0B3454"/>
                </a:solidFill>
                <a:latin typeface="Arial"/>
                <a:ea typeface="Arial"/>
                <a:cs typeface="Arial"/>
              </a:defRPr>
            </a:pPr>
            <a:r>
              <a:rPr sz="900" b="1">
                <a:solidFill>
                  <a:srgbClr val="0B3454"/>
                </a:solidFill>
                <a:latin typeface="Arial"/>
                <a:ea typeface="Arial"/>
                <a:cs typeface="Arial"/>
              </a:rPr>
              <a:t>02</a:t>
            </a:r>
          </a:p>
        </p:txBody>
      </p:sp>
    </p:spTree>
    <p:extLst>
      <p:ext uri="{BB962C8B-B14F-4D97-AF65-F5344CB8AC3E}">
        <p14:creationId xmlns:p14="http://schemas.microsoft.com/office/powerpoint/2010/main" val="1766924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1B2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4520BB3-269D-46A2-90BB-5A7E2DE5B573}"/>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FFFFFF"/>
                </a:solidFill>
                <a:latin typeface="Arial"/>
                <a:ea typeface="Arial"/>
                <a:cs typeface="Arial"/>
              </a:defRPr>
            </a:defPPr>
          </a:lstStyle>
          <a:p>
            <a:pPr algn="l">
              <a:defRPr sz="2550" b="1">
                <a:solidFill>
                  <a:srgbClr val="FFFFFF"/>
                </a:solidFill>
                <a:latin typeface="Arial"/>
                <a:ea typeface="Arial"/>
                <a:cs typeface="Arial"/>
              </a:defRPr>
            </a:pPr>
            <a:r>
              <a:rPr sz="2550" b="1">
                <a:solidFill>
                  <a:srgbClr val="FFFFFF"/>
                </a:solidFill>
                <a:latin typeface="Arial"/>
                <a:ea typeface="Arial"/>
                <a:cs typeface="Arial"/>
              </a:rPr>
              <a:t>Investigation method</a:t>
            </a:r>
          </a:p>
        </p:txBody>
      </p:sp>
      <p:sp>
        <p:nvSpPr>
          <p:cNvPr id="2" name="Rectangle 1">
            <a:extLst>
              <a:ext uri="{FF2B5EF4-FFF2-40B4-BE49-F238E27FC236}">
                <a16:creationId xmlns:a16="http://schemas.microsoft.com/office/drawing/2014/main" id="{99D5AA8F-42BB-41FC-8446-EDA6EF6053C9}"/>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B8D5E5"/>
                </a:solidFill>
                <a:latin typeface="Arial"/>
                <a:ea typeface="Arial"/>
                <a:cs typeface="Arial"/>
              </a:defRPr>
            </a:defPPr>
          </a:lstStyle>
          <a:p>
            <a:pPr algn="l">
              <a:defRPr sz="1350" b="0">
                <a:solidFill>
                  <a:srgbClr val="B8D5E5"/>
                </a:solidFill>
                <a:latin typeface="Arial"/>
                <a:ea typeface="Arial"/>
                <a:cs typeface="Arial"/>
              </a:defRPr>
            </a:pPr>
            <a:r>
              <a:rPr sz="1350" b="0">
                <a:solidFill>
                  <a:srgbClr val="B8D5E5"/>
                </a:solidFill>
                <a:latin typeface="Arial"/>
                <a:ea typeface="Arial"/>
                <a:cs typeface="Arial"/>
              </a:rPr>
              <a:t>I pivoted between indicators, accounts and timestamps instead of reading every record</a:t>
            </a:r>
          </a:p>
        </p:txBody>
      </p:sp>
      <p:sp>
        <p:nvSpPr>
          <p:cNvPr id="3" name="Rectangle 2">
            <a:extLst>
              <a:ext uri="{FF2B5EF4-FFF2-40B4-BE49-F238E27FC236}">
                <a16:creationId xmlns:a16="http://schemas.microsoft.com/office/drawing/2014/main" id="{A50DF557-BDE3-4F56-9594-2A0298449BC4}"/>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sp>
        <p:nvSpPr>
          <p:cNvPr id="4" name="Oval 3">
            <a:extLst>
              <a:ext uri="{FF2B5EF4-FFF2-40B4-BE49-F238E27FC236}">
                <a16:creationId xmlns:a16="http://schemas.microsoft.com/office/drawing/2014/main" id="{9251215E-BB1F-4461-9342-A1AF8BC26005}"/>
              </a:ext>
            </a:extLst>
          </p:cNvPr>
          <p:cNvSpPr>
            <a:spLocks noGrp="1"/>
          </p:cNvSpPr>
          <p:nvPr/>
        </p:nvSpPr>
        <p:spPr>
          <a:xfrm>
            <a:off x="666750" y="1657350"/>
            <a:ext cx="419100" cy="419100"/>
          </a:xfrm>
          <a:prstGeom prst="ellipse">
            <a:avLst/>
          </a:prstGeom>
          <a:solidFill>
            <a:srgbClr val="42BCEB"/>
          </a:solidFill>
          <a:ln w="0">
            <a:solidFill>
              <a:srgbClr val="42BCEB"/>
            </a:solidFill>
            <a:prstDash val="solid"/>
          </a:ln>
        </p:spPr>
        <p:txBody>
          <a:bodyPr>
            <a:normAutofit fontScale="81487"/>
          </a:bodyPr>
          <a:lstStyle>
            <a:defPPr algn="ctr">
              <a:defRPr sz="1650" b="1">
                <a:solidFill>
                  <a:srgbClr val="061B2F"/>
                </a:solidFill>
                <a:latin typeface="Arial"/>
                <a:ea typeface="Arial"/>
                <a:cs typeface="Arial"/>
              </a:defRPr>
            </a:defPPr>
          </a:lstStyle>
          <a:p>
            <a:pPr algn="ctr">
              <a:defRPr sz="1650" b="1">
                <a:solidFill>
                  <a:srgbClr val="061B2F"/>
                </a:solidFill>
                <a:latin typeface="Arial"/>
                <a:ea typeface="Arial"/>
                <a:cs typeface="Arial"/>
              </a:defRPr>
            </a:pPr>
            <a:r>
              <a:rPr sz="1650" b="1">
                <a:solidFill>
                  <a:srgbClr val="061B2F"/>
                </a:solidFill>
                <a:latin typeface="Arial"/>
                <a:ea typeface="Arial"/>
                <a:cs typeface="Arial"/>
              </a:rPr>
              <a:t>1</a:t>
            </a:r>
          </a:p>
        </p:txBody>
      </p:sp>
      <p:sp>
        <p:nvSpPr>
          <p:cNvPr id="5" name="Rectangle 4">
            <a:extLst>
              <a:ext uri="{FF2B5EF4-FFF2-40B4-BE49-F238E27FC236}">
                <a16:creationId xmlns:a16="http://schemas.microsoft.com/office/drawing/2014/main" id="{0E2B7026-20BA-480B-B2BE-10E35C9BD2B7}"/>
              </a:ext>
            </a:extLst>
          </p:cNvPr>
          <p:cNvSpPr>
            <a:spLocks noGrp="1"/>
          </p:cNvSpPr>
          <p:nvPr/>
        </p:nvSpPr>
        <p:spPr>
          <a:xfrm>
            <a:off x="1257300" y="1638300"/>
            <a:ext cx="3524250" cy="323850"/>
          </a:xfrm>
          <a:prstGeom prst="rect">
            <a:avLst/>
          </a:prstGeom>
          <a:noFill/>
          <a:ln w="0">
            <a:noFill/>
            <a:prstDash val="solid"/>
          </a:ln>
        </p:spPr>
        <p:txBody>
          <a:bodyPr>
            <a:normAutofit fontScale="92424"/>
          </a:bodyPr>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Start with the known IP</a:t>
            </a:r>
          </a:p>
        </p:txBody>
      </p:sp>
      <p:sp>
        <p:nvSpPr>
          <p:cNvPr id="6" name="Rectangle 5">
            <a:extLst>
              <a:ext uri="{FF2B5EF4-FFF2-40B4-BE49-F238E27FC236}">
                <a16:creationId xmlns:a16="http://schemas.microsoft.com/office/drawing/2014/main" id="{45D53F28-9BA0-43AE-B93C-3860A7610DBF}"/>
              </a:ext>
            </a:extLst>
          </p:cNvPr>
          <p:cNvSpPr>
            <a:spLocks noGrp="1"/>
          </p:cNvSpPr>
          <p:nvPr/>
        </p:nvSpPr>
        <p:spPr>
          <a:xfrm>
            <a:off x="1257300" y="1981200"/>
            <a:ext cx="3638550" cy="514350"/>
          </a:xfrm>
          <a:prstGeom prst="rect">
            <a:avLst/>
          </a:prstGeom>
          <a:noFill/>
          <a:ln w="0">
            <a:noFill/>
            <a:prstDash val="solid"/>
          </a:ln>
        </p:spPr>
        <p:txBody>
          <a:bodyPr>
            <a:normAutofit/>
          </a:bodyPr>
          <a:lstStyle>
            <a:defPPr algn="l">
              <a:defRPr sz="1275" b="0">
                <a:solidFill>
                  <a:srgbClr val="B8D5E5"/>
                </a:solidFill>
                <a:latin typeface="Arial"/>
                <a:ea typeface="Arial"/>
                <a:cs typeface="Arial"/>
              </a:defRPr>
            </a:defPPr>
          </a:lstStyle>
          <a:p>
            <a:pPr algn="l">
              <a:defRPr sz="1275" b="0">
                <a:solidFill>
                  <a:srgbClr val="B8D5E5"/>
                </a:solidFill>
                <a:latin typeface="Arial"/>
                <a:ea typeface="Arial"/>
                <a:cs typeface="Arial"/>
              </a:defRPr>
            </a:pPr>
            <a:r>
              <a:rPr sz="1275" b="0">
                <a:solidFill>
                  <a:srgbClr val="B8D5E5"/>
                </a:solidFill>
                <a:latin typeface="Arial"/>
                <a:ea typeface="Arial"/>
                <a:cs typeface="Arial"/>
              </a:rPr>
              <a:t>18.66.52.227</a:t>
            </a:r>
          </a:p>
        </p:txBody>
      </p:sp>
      <p:sp>
        <p:nvSpPr>
          <p:cNvPr id="7" name="Oval 6">
            <a:extLst>
              <a:ext uri="{FF2B5EF4-FFF2-40B4-BE49-F238E27FC236}">
                <a16:creationId xmlns:a16="http://schemas.microsoft.com/office/drawing/2014/main" id="{BBB5F337-BBD7-4231-B63B-56A5D0BF280E}"/>
              </a:ext>
            </a:extLst>
          </p:cNvPr>
          <p:cNvSpPr>
            <a:spLocks noGrp="1"/>
          </p:cNvSpPr>
          <p:nvPr/>
        </p:nvSpPr>
        <p:spPr>
          <a:xfrm>
            <a:off x="666750" y="2638425"/>
            <a:ext cx="419100" cy="419100"/>
          </a:xfrm>
          <a:prstGeom prst="ellipse">
            <a:avLst/>
          </a:prstGeom>
          <a:solidFill>
            <a:srgbClr val="42BCEB"/>
          </a:solidFill>
          <a:ln w="0">
            <a:solidFill>
              <a:srgbClr val="42BCEB"/>
            </a:solidFill>
            <a:prstDash val="solid"/>
          </a:ln>
        </p:spPr>
        <p:txBody>
          <a:bodyPr>
            <a:normAutofit fontScale="81487"/>
          </a:bodyPr>
          <a:lstStyle>
            <a:defPPr algn="ctr">
              <a:defRPr sz="1650" b="1">
                <a:solidFill>
                  <a:srgbClr val="061B2F"/>
                </a:solidFill>
                <a:latin typeface="Arial"/>
                <a:ea typeface="Arial"/>
                <a:cs typeface="Arial"/>
              </a:defRPr>
            </a:defPPr>
          </a:lstStyle>
          <a:p>
            <a:pPr algn="ctr">
              <a:defRPr sz="1650" b="1">
                <a:solidFill>
                  <a:srgbClr val="061B2F"/>
                </a:solidFill>
                <a:latin typeface="Arial"/>
                <a:ea typeface="Arial"/>
                <a:cs typeface="Arial"/>
              </a:defRPr>
            </a:pPr>
            <a:r>
              <a:rPr sz="1650" b="1">
                <a:solidFill>
                  <a:srgbClr val="061B2F"/>
                </a:solidFill>
                <a:latin typeface="Arial"/>
                <a:ea typeface="Arial"/>
                <a:cs typeface="Arial"/>
              </a:rPr>
              <a:t>2</a:t>
            </a:r>
          </a:p>
        </p:txBody>
      </p:sp>
      <p:sp>
        <p:nvSpPr>
          <p:cNvPr id="8" name="Rectangle 7">
            <a:extLst>
              <a:ext uri="{FF2B5EF4-FFF2-40B4-BE49-F238E27FC236}">
                <a16:creationId xmlns:a16="http://schemas.microsoft.com/office/drawing/2014/main" id="{3B462920-AB5A-4FCE-B305-6C124408B481}"/>
              </a:ext>
            </a:extLst>
          </p:cNvPr>
          <p:cNvSpPr>
            <a:spLocks noGrp="1"/>
          </p:cNvSpPr>
          <p:nvPr/>
        </p:nvSpPr>
        <p:spPr>
          <a:xfrm>
            <a:off x="1257300" y="2619375"/>
            <a:ext cx="3524250" cy="323850"/>
          </a:xfrm>
          <a:prstGeom prst="rect">
            <a:avLst/>
          </a:prstGeom>
          <a:noFill/>
          <a:ln w="0">
            <a:noFill/>
            <a:prstDash val="solid"/>
          </a:ln>
        </p:spPr>
        <p:txBody>
          <a:bodyPr>
            <a:normAutofit fontScale="92424"/>
          </a:bodyPr>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Resolve infrastructure</a:t>
            </a:r>
          </a:p>
        </p:txBody>
      </p:sp>
      <p:sp>
        <p:nvSpPr>
          <p:cNvPr id="9" name="Rectangle 8">
            <a:extLst>
              <a:ext uri="{FF2B5EF4-FFF2-40B4-BE49-F238E27FC236}">
                <a16:creationId xmlns:a16="http://schemas.microsoft.com/office/drawing/2014/main" id="{1FA99E67-9EA3-47D2-95F3-F46F6CC54CA2}"/>
              </a:ext>
            </a:extLst>
          </p:cNvPr>
          <p:cNvSpPr>
            <a:spLocks noGrp="1"/>
          </p:cNvSpPr>
          <p:nvPr/>
        </p:nvSpPr>
        <p:spPr>
          <a:xfrm>
            <a:off x="1257300" y="2962275"/>
            <a:ext cx="3638550" cy="514350"/>
          </a:xfrm>
          <a:prstGeom prst="rect">
            <a:avLst/>
          </a:prstGeom>
          <a:noFill/>
          <a:ln w="0">
            <a:noFill/>
            <a:prstDash val="solid"/>
          </a:ln>
        </p:spPr>
        <p:txBody>
          <a:bodyPr>
            <a:normAutofit/>
          </a:bodyPr>
          <a:lstStyle>
            <a:defPPr algn="l">
              <a:defRPr sz="1275" b="0">
                <a:solidFill>
                  <a:srgbClr val="B8D5E5"/>
                </a:solidFill>
                <a:latin typeface="Arial"/>
                <a:ea typeface="Arial"/>
                <a:cs typeface="Arial"/>
              </a:defRPr>
            </a:defPPr>
          </a:lstStyle>
          <a:p>
            <a:pPr algn="l">
              <a:defRPr sz="1275" b="0">
                <a:solidFill>
                  <a:srgbClr val="B8D5E5"/>
                </a:solidFill>
                <a:latin typeface="Arial"/>
                <a:ea typeface="Arial"/>
                <a:cs typeface="Arial"/>
              </a:defRPr>
            </a:pPr>
            <a:r>
              <a:rPr sz="1275" b="0">
                <a:solidFill>
                  <a:srgbClr val="B8D5E5"/>
                </a:solidFill>
                <a:latin typeface="Arial"/>
                <a:ea typeface="Arial"/>
                <a:cs typeface="Arial"/>
              </a:rPr>
              <a:t>PassiveDns identified betterlyrics4u.com</a:t>
            </a:r>
          </a:p>
        </p:txBody>
      </p:sp>
      <p:sp>
        <p:nvSpPr>
          <p:cNvPr id="10" name="Oval 9">
            <a:extLst>
              <a:ext uri="{FF2B5EF4-FFF2-40B4-BE49-F238E27FC236}">
                <a16:creationId xmlns:a16="http://schemas.microsoft.com/office/drawing/2014/main" id="{74BB67E5-343B-4657-B62B-F7DB49CE0B10}"/>
              </a:ext>
            </a:extLst>
          </p:cNvPr>
          <p:cNvSpPr>
            <a:spLocks noGrp="1"/>
          </p:cNvSpPr>
          <p:nvPr/>
        </p:nvSpPr>
        <p:spPr>
          <a:xfrm>
            <a:off x="666750" y="3619500"/>
            <a:ext cx="419100" cy="419100"/>
          </a:xfrm>
          <a:prstGeom prst="ellipse">
            <a:avLst/>
          </a:prstGeom>
          <a:solidFill>
            <a:srgbClr val="42BCEB"/>
          </a:solidFill>
          <a:ln w="0">
            <a:solidFill>
              <a:srgbClr val="42BCEB"/>
            </a:solidFill>
            <a:prstDash val="solid"/>
          </a:ln>
        </p:spPr>
        <p:txBody>
          <a:bodyPr>
            <a:normAutofit fontScale="81487"/>
          </a:bodyPr>
          <a:lstStyle>
            <a:defPPr algn="ctr">
              <a:defRPr sz="1650" b="1">
                <a:solidFill>
                  <a:srgbClr val="061B2F"/>
                </a:solidFill>
                <a:latin typeface="Arial"/>
                <a:ea typeface="Arial"/>
                <a:cs typeface="Arial"/>
              </a:defRPr>
            </a:defPPr>
          </a:lstStyle>
          <a:p>
            <a:pPr algn="ctr">
              <a:defRPr sz="1650" b="1">
                <a:solidFill>
                  <a:srgbClr val="061B2F"/>
                </a:solidFill>
                <a:latin typeface="Arial"/>
                <a:ea typeface="Arial"/>
                <a:cs typeface="Arial"/>
              </a:defRPr>
            </a:pPr>
            <a:r>
              <a:rPr sz="1650" b="1">
                <a:solidFill>
                  <a:srgbClr val="061B2F"/>
                </a:solidFill>
                <a:latin typeface="Arial"/>
                <a:ea typeface="Arial"/>
                <a:cs typeface="Arial"/>
              </a:rPr>
              <a:t>3</a:t>
            </a:r>
          </a:p>
        </p:txBody>
      </p:sp>
      <p:sp>
        <p:nvSpPr>
          <p:cNvPr id="11" name="Rectangle 10">
            <a:extLst>
              <a:ext uri="{FF2B5EF4-FFF2-40B4-BE49-F238E27FC236}">
                <a16:creationId xmlns:a16="http://schemas.microsoft.com/office/drawing/2014/main" id="{AB63002F-7729-4F1E-8BE7-A3B54FA58E0F}"/>
              </a:ext>
            </a:extLst>
          </p:cNvPr>
          <p:cNvSpPr>
            <a:spLocks noGrp="1"/>
          </p:cNvSpPr>
          <p:nvPr/>
        </p:nvSpPr>
        <p:spPr>
          <a:xfrm>
            <a:off x="1257300" y="3600450"/>
            <a:ext cx="3524250" cy="323850"/>
          </a:xfrm>
          <a:prstGeom prst="rect">
            <a:avLst/>
          </a:prstGeom>
          <a:noFill/>
          <a:ln w="0">
            <a:noFill/>
            <a:prstDash val="solid"/>
          </a:ln>
        </p:spPr>
        <p:txBody>
          <a:bodyPr>
            <a:normAutofit fontScale="92424"/>
          </a:bodyPr>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Follow the target</a:t>
            </a:r>
          </a:p>
        </p:txBody>
      </p:sp>
      <p:sp>
        <p:nvSpPr>
          <p:cNvPr id="12" name="Rectangle 11">
            <a:extLst>
              <a:ext uri="{FF2B5EF4-FFF2-40B4-BE49-F238E27FC236}">
                <a16:creationId xmlns:a16="http://schemas.microsoft.com/office/drawing/2014/main" id="{C80019F7-1DDA-47AB-959B-53D1D189C469}"/>
              </a:ext>
            </a:extLst>
          </p:cNvPr>
          <p:cNvSpPr>
            <a:spLocks noGrp="1"/>
          </p:cNvSpPr>
          <p:nvPr/>
        </p:nvSpPr>
        <p:spPr>
          <a:xfrm>
            <a:off x="1257300" y="3943350"/>
            <a:ext cx="3638550" cy="514350"/>
          </a:xfrm>
          <a:prstGeom prst="rect">
            <a:avLst/>
          </a:prstGeom>
          <a:noFill/>
          <a:ln w="0">
            <a:noFill/>
            <a:prstDash val="solid"/>
          </a:ln>
        </p:spPr>
        <p:txBody>
          <a:bodyPr>
            <a:normAutofit/>
          </a:bodyPr>
          <a:lstStyle>
            <a:defPPr algn="l">
              <a:defRPr sz="1275" b="0">
                <a:solidFill>
                  <a:srgbClr val="B8D5E5"/>
                </a:solidFill>
                <a:latin typeface="Arial"/>
                <a:ea typeface="Arial"/>
                <a:cs typeface="Arial"/>
              </a:defRPr>
            </a:defPPr>
          </a:lstStyle>
          <a:p>
            <a:pPr algn="l">
              <a:defRPr sz="1275" b="0">
                <a:solidFill>
                  <a:srgbClr val="B8D5E5"/>
                </a:solidFill>
                <a:latin typeface="Arial"/>
                <a:ea typeface="Arial"/>
                <a:cs typeface="Arial"/>
              </a:defRPr>
            </a:pPr>
            <a:r>
              <a:rPr sz="1275" b="0">
                <a:solidFill>
                  <a:srgbClr val="B8D5E5"/>
                </a:solidFill>
                <a:latin typeface="Arial"/>
                <a:ea typeface="Arial"/>
                <a:cs typeface="Arial"/>
              </a:rPr>
              <a:t>Email and Employees linked the lure to Dwake</a:t>
            </a:r>
          </a:p>
        </p:txBody>
      </p:sp>
      <p:sp>
        <p:nvSpPr>
          <p:cNvPr id="13" name="Oval 12">
            <a:extLst>
              <a:ext uri="{FF2B5EF4-FFF2-40B4-BE49-F238E27FC236}">
                <a16:creationId xmlns:a16="http://schemas.microsoft.com/office/drawing/2014/main" id="{C7B71F4F-D9CF-4F09-A292-47C6B9CFAF89}"/>
              </a:ext>
            </a:extLst>
          </p:cNvPr>
          <p:cNvSpPr>
            <a:spLocks noGrp="1"/>
          </p:cNvSpPr>
          <p:nvPr/>
        </p:nvSpPr>
        <p:spPr>
          <a:xfrm>
            <a:off x="666750" y="4600575"/>
            <a:ext cx="419100" cy="419100"/>
          </a:xfrm>
          <a:prstGeom prst="ellipse">
            <a:avLst/>
          </a:prstGeom>
          <a:solidFill>
            <a:srgbClr val="FF6A2A"/>
          </a:solidFill>
          <a:ln w="0">
            <a:solidFill>
              <a:srgbClr val="FF6A2A"/>
            </a:solidFill>
            <a:prstDash val="solid"/>
          </a:ln>
        </p:spPr>
        <p:txBody>
          <a:bodyPr>
            <a:normAutofit fontScale="81487"/>
          </a:bodyPr>
          <a:lstStyle>
            <a:defPPr algn="ctr">
              <a:defRPr sz="1650" b="1">
                <a:solidFill>
                  <a:srgbClr val="061B2F"/>
                </a:solidFill>
                <a:latin typeface="Arial"/>
                <a:ea typeface="Arial"/>
                <a:cs typeface="Arial"/>
              </a:defRPr>
            </a:defPPr>
          </a:lstStyle>
          <a:p>
            <a:pPr algn="ctr">
              <a:defRPr sz="1650" b="1">
                <a:solidFill>
                  <a:srgbClr val="061B2F"/>
                </a:solidFill>
                <a:latin typeface="Arial"/>
                <a:ea typeface="Arial"/>
                <a:cs typeface="Arial"/>
              </a:defRPr>
            </a:pPr>
            <a:r>
              <a:rPr sz="1650" b="1">
                <a:solidFill>
                  <a:srgbClr val="061B2F"/>
                </a:solidFill>
                <a:latin typeface="Arial"/>
                <a:ea typeface="Arial"/>
                <a:cs typeface="Arial"/>
              </a:rPr>
              <a:t>4</a:t>
            </a:r>
          </a:p>
        </p:txBody>
      </p:sp>
      <p:sp>
        <p:nvSpPr>
          <p:cNvPr id="14" name="Rectangle 13">
            <a:extLst>
              <a:ext uri="{FF2B5EF4-FFF2-40B4-BE49-F238E27FC236}">
                <a16:creationId xmlns:a16="http://schemas.microsoft.com/office/drawing/2014/main" id="{A836CEC0-6E99-4CF4-95B4-891EF1140457}"/>
              </a:ext>
            </a:extLst>
          </p:cNvPr>
          <p:cNvSpPr>
            <a:spLocks noGrp="1"/>
          </p:cNvSpPr>
          <p:nvPr/>
        </p:nvSpPr>
        <p:spPr>
          <a:xfrm>
            <a:off x="1257300" y="4581525"/>
            <a:ext cx="3524250" cy="323850"/>
          </a:xfrm>
          <a:prstGeom prst="rect">
            <a:avLst/>
          </a:prstGeom>
          <a:noFill/>
          <a:ln w="0">
            <a:noFill/>
            <a:prstDash val="solid"/>
          </a:ln>
        </p:spPr>
        <p:txBody>
          <a:bodyPr>
            <a:normAutofit fontScale="92424"/>
          </a:bodyPr>
          <a:lstStyle>
            <a:defPPr algn="l">
              <a:defRPr sz="1650" b="1">
                <a:solidFill>
                  <a:srgbClr val="FFFFFF"/>
                </a:solidFill>
                <a:latin typeface="Arial"/>
                <a:ea typeface="Arial"/>
                <a:cs typeface="Arial"/>
              </a:defRPr>
            </a:defPPr>
          </a:lstStyle>
          <a:p>
            <a:pPr algn="l">
              <a:defRPr sz="1650" b="1">
                <a:solidFill>
                  <a:srgbClr val="FFFFFF"/>
                </a:solidFill>
                <a:latin typeface="Arial"/>
                <a:ea typeface="Arial"/>
                <a:cs typeface="Arial"/>
              </a:defRPr>
            </a:pPr>
            <a:r>
              <a:rPr sz="1650" b="1">
                <a:solidFill>
                  <a:srgbClr val="FFFFFF"/>
                </a:solidFill>
                <a:latin typeface="Arial"/>
                <a:ea typeface="Arial"/>
                <a:cs typeface="Arial"/>
              </a:rPr>
              <a:t>Confirm impact</a:t>
            </a:r>
          </a:p>
        </p:txBody>
      </p:sp>
      <p:sp>
        <p:nvSpPr>
          <p:cNvPr id="15" name="Rectangle 14">
            <a:extLst>
              <a:ext uri="{FF2B5EF4-FFF2-40B4-BE49-F238E27FC236}">
                <a16:creationId xmlns:a16="http://schemas.microsoft.com/office/drawing/2014/main" id="{696FBF75-516B-47D2-A4E1-954B7D18AE0C}"/>
              </a:ext>
            </a:extLst>
          </p:cNvPr>
          <p:cNvSpPr>
            <a:spLocks noGrp="1"/>
          </p:cNvSpPr>
          <p:nvPr/>
        </p:nvSpPr>
        <p:spPr>
          <a:xfrm>
            <a:off x="1257300" y="4924425"/>
            <a:ext cx="3638550" cy="514350"/>
          </a:xfrm>
          <a:prstGeom prst="rect">
            <a:avLst/>
          </a:prstGeom>
          <a:noFill/>
          <a:ln w="0">
            <a:noFill/>
            <a:prstDash val="solid"/>
          </a:ln>
        </p:spPr>
        <p:txBody>
          <a:bodyPr>
            <a:normAutofit/>
          </a:bodyPr>
          <a:lstStyle>
            <a:defPPr algn="l">
              <a:defRPr sz="1275" b="0">
                <a:solidFill>
                  <a:srgbClr val="B8D5E5"/>
                </a:solidFill>
                <a:latin typeface="Arial"/>
                <a:ea typeface="Arial"/>
                <a:cs typeface="Arial"/>
              </a:defRPr>
            </a:defPPr>
          </a:lstStyle>
          <a:p>
            <a:pPr algn="l">
              <a:defRPr sz="1275" b="0">
                <a:solidFill>
                  <a:srgbClr val="B8D5E5"/>
                </a:solidFill>
                <a:latin typeface="Arial"/>
                <a:ea typeface="Arial"/>
                <a:cs typeface="Arial"/>
              </a:defRPr>
            </a:pPr>
            <a:r>
              <a:rPr sz="1275" b="0">
                <a:solidFill>
                  <a:srgbClr val="B8D5E5"/>
                </a:solidFill>
                <a:latin typeface="Arial"/>
                <a:ea typeface="Arial"/>
                <a:cs typeface="Arial"/>
              </a:rPr>
              <a:t>Outbound, authentication and inbound logs verified the sequence</a:t>
            </a:r>
          </a:p>
        </p:txBody>
      </p:sp>
      <p:sp>
        <p:nvSpPr>
          <p:cNvPr id="16" name="Rounded Rectangle 15">
            <a:extLst>
              <a:ext uri="{FF2B5EF4-FFF2-40B4-BE49-F238E27FC236}">
                <a16:creationId xmlns:a16="http://schemas.microsoft.com/office/drawing/2014/main" id="{292080F0-5C2D-4338-9E97-B4FEE936770D}"/>
              </a:ext>
            </a:extLst>
          </p:cNvPr>
          <p:cNvSpPr>
            <a:spLocks noGrp="1"/>
          </p:cNvSpPr>
          <p:nvPr/>
        </p:nvSpPr>
        <p:spPr>
          <a:xfrm>
            <a:off x="5276850" y="1600200"/>
            <a:ext cx="6191250" cy="4171950"/>
          </a:xfrm>
          <a:prstGeom prst="roundRect">
            <a:avLst>
              <a:gd name="adj" fmla="val 1826"/>
            </a:avLst>
          </a:prstGeom>
          <a:solidFill>
            <a:srgbClr val="FFFFFF"/>
          </a:solidFill>
          <a:ln w="9525">
            <a:solidFill>
              <a:srgbClr val="2A5A75"/>
            </a:solidFill>
            <a:prstDash val="solid"/>
          </a:ln>
        </p:spPr>
        <p:txBody>
          <a:bodyPr/>
          <a:lstStyle/>
          <a:p>
            <a:endParaRPr lang="en-US"/>
          </a:p>
        </p:txBody>
      </p:sp>
      <p:pic>
        <p:nvPicPr>
          <p:cNvPr id="17" name="Picture 16">
            <a:extLst>
              <a:ext uri="{FF2B5EF4-FFF2-40B4-BE49-F238E27FC236}">
                <a16:creationId xmlns:a16="http://schemas.microsoft.com/office/drawing/2014/main" id="{6BB2E4D2-4CCA-41F0-8B03-FC978FDEEAE1}"/>
              </a:ext>
            </a:extLst>
          </p:cNvPr>
          <p:cNvPicPr>
            <a:picLocks noChangeAspect="1"/>
          </p:cNvPicPr>
          <p:nvPr/>
        </p:nvPicPr>
        <p:blipFill>
          <a:blip r:embed="rId3"/>
          <a:stretch/>
        </p:blipFill>
        <p:spPr>
          <a:xfrm>
            <a:off x="5429250" y="2170012"/>
            <a:ext cx="5886450" cy="3032327"/>
          </a:xfrm>
          <a:prstGeom prst="rect">
            <a:avLst/>
          </a:prstGeom>
        </p:spPr>
      </p:pic>
      <p:sp>
        <p:nvSpPr>
          <p:cNvPr id="18" name="Rectangle 17">
            <a:extLst>
              <a:ext uri="{FF2B5EF4-FFF2-40B4-BE49-F238E27FC236}">
                <a16:creationId xmlns:a16="http://schemas.microsoft.com/office/drawing/2014/main" id="{AE5290B4-7EF7-449B-A9E2-FA6361882A9B}"/>
              </a:ext>
            </a:extLst>
          </p:cNvPr>
          <p:cNvSpPr>
            <a:spLocks noGrp="1"/>
          </p:cNvSpPr>
          <p:nvPr/>
        </p:nvSpPr>
        <p:spPr>
          <a:xfrm>
            <a:off x="5429250" y="5829300"/>
            <a:ext cx="5810250" cy="361950"/>
          </a:xfrm>
          <a:prstGeom prst="rect">
            <a:avLst/>
          </a:prstGeom>
          <a:noFill/>
          <a:ln w="0">
            <a:noFill/>
            <a:prstDash val="solid"/>
          </a:ln>
        </p:spPr>
        <p:txBody>
          <a:bodyPr>
            <a:normAutofit/>
          </a:bodyPr>
          <a:lstStyle>
            <a:defPPr algn="l">
              <a:defRPr sz="1200" b="0">
                <a:solidFill>
                  <a:srgbClr val="B8D5E5"/>
                </a:solidFill>
                <a:latin typeface="Arial"/>
                <a:ea typeface="Arial"/>
                <a:cs typeface="Arial"/>
              </a:defRPr>
            </a:defPPr>
          </a:lstStyle>
          <a:p>
            <a:pPr algn="l">
              <a:defRPr sz="1200" b="0">
                <a:solidFill>
                  <a:srgbClr val="B8D5E5"/>
                </a:solidFill>
                <a:latin typeface="Arial"/>
                <a:ea typeface="Arial"/>
                <a:cs typeface="Arial"/>
              </a:defRPr>
            </a:pPr>
            <a:r>
              <a:rPr sz="1200" b="0">
                <a:solidFill>
                  <a:srgbClr val="B8D5E5"/>
                </a:solidFill>
                <a:latin typeface="Arial"/>
                <a:ea typeface="Arial"/>
                <a:cs typeface="Arial"/>
              </a:rPr>
              <a:t>KQL filters reduced the data by table, time window, source IP, URL and username.</a:t>
            </a:r>
          </a:p>
        </p:txBody>
      </p:sp>
      <p:sp>
        <p:nvSpPr>
          <p:cNvPr id="19" name="Rectangle 18">
            <a:extLst>
              <a:ext uri="{FF2B5EF4-FFF2-40B4-BE49-F238E27FC236}">
                <a16:creationId xmlns:a16="http://schemas.microsoft.com/office/drawing/2014/main" id="{26E920D4-6983-4802-815F-066ADE364DFE}"/>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91AFC2"/>
                </a:solidFill>
                <a:latin typeface="Arial"/>
                <a:ea typeface="Arial"/>
                <a:cs typeface="Arial"/>
              </a:defRPr>
            </a:defPPr>
          </a:lstStyle>
          <a:p>
            <a:pPr algn="l">
              <a:defRPr sz="825" b="1">
                <a:solidFill>
                  <a:srgbClr val="91AFC2"/>
                </a:solidFill>
                <a:latin typeface="Arial"/>
                <a:ea typeface="Arial"/>
                <a:cs typeface="Arial"/>
              </a:defRPr>
            </a:pPr>
            <a:r>
              <a:rPr sz="825" b="1">
                <a:solidFill>
                  <a:srgbClr val="91AFC2"/>
                </a:solidFill>
                <a:latin typeface="Arial"/>
                <a:ea typeface="Arial"/>
                <a:cs typeface="Arial"/>
              </a:rPr>
              <a:t>ITECH1502  |  KC7 A Rap Beef</a:t>
            </a:r>
          </a:p>
        </p:txBody>
      </p:sp>
      <p:sp>
        <p:nvSpPr>
          <p:cNvPr id="20" name="Rectangle 19">
            <a:extLst>
              <a:ext uri="{FF2B5EF4-FFF2-40B4-BE49-F238E27FC236}">
                <a16:creationId xmlns:a16="http://schemas.microsoft.com/office/drawing/2014/main" id="{9C6FC4DB-3B6C-458B-9DCF-8192D2FF247C}"/>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42BCEB"/>
                </a:solidFill>
                <a:latin typeface="Arial"/>
                <a:ea typeface="Arial"/>
                <a:cs typeface="Arial"/>
              </a:defRPr>
            </a:defPPr>
          </a:lstStyle>
          <a:p>
            <a:pPr algn="r">
              <a:defRPr sz="900" b="1">
                <a:solidFill>
                  <a:srgbClr val="42BCEB"/>
                </a:solidFill>
                <a:latin typeface="Arial"/>
                <a:ea typeface="Arial"/>
                <a:cs typeface="Arial"/>
              </a:defRPr>
            </a:pPr>
            <a:r>
              <a:rPr sz="900" b="1">
                <a:solidFill>
                  <a:srgbClr val="42BCEB"/>
                </a:solidFill>
                <a:latin typeface="Arial"/>
                <a:ea typeface="Arial"/>
                <a:cs typeface="Arial"/>
              </a:rPr>
              <a:t>03</a:t>
            </a:r>
          </a:p>
        </p:txBody>
      </p:sp>
    </p:spTree>
    <p:extLst>
      <p:ext uri="{BB962C8B-B14F-4D97-AF65-F5344CB8AC3E}">
        <p14:creationId xmlns:p14="http://schemas.microsoft.com/office/powerpoint/2010/main" val="974302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C331947-5BC3-4B5B-B2C1-EF2992678B82}"/>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152033"/>
                </a:solidFill>
                <a:latin typeface="Arial"/>
                <a:ea typeface="Arial"/>
                <a:cs typeface="Arial"/>
              </a:defRPr>
            </a:defPPr>
          </a:lstStyle>
          <a:p>
            <a:pPr algn="l">
              <a:defRPr sz="2550" b="1">
                <a:solidFill>
                  <a:srgbClr val="152033"/>
                </a:solidFill>
                <a:latin typeface="Arial"/>
                <a:ea typeface="Arial"/>
                <a:cs typeface="Arial"/>
              </a:defRPr>
            </a:pPr>
            <a:r>
              <a:rPr sz="2550" b="1">
                <a:solidFill>
                  <a:srgbClr val="152033"/>
                </a:solidFill>
                <a:latin typeface="Arial"/>
                <a:ea typeface="Arial"/>
                <a:cs typeface="Arial"/>
              </a:rPr>
              <a:t>Verified attack timeline</a:t>
            </a:r>
          </a:p>
        </p:txBody>
      </p:sp>
      <p:sp>
        <p:nvSpPr>
          <p:cNvPr id="2" name="Rectangle 1">
            <a:extLst>
              <a:ext uri="{FF2B5EF4-FFF2-40B4-BE49-F238E27FC236}">
                <a16:creationId xmlns:a16="http://schemas.microsoft.com/office/drawing/2014/main" id="{730567B4-BDFD-451C-BE84-39F11BEAE15D}"/>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566275"/>
                </a:solidFill>
                <a:latin typeface="Arial"/>
                <a:ea typeface="Arial"/>
                <a:cs typeface="Arial"/>
              </a:defRPr>
            </a:defPPr>
          </a:lstStyle>
          <a:p>
            <a:pPr algn="l">
              <a:defRPr sz="1350" b="0">
                <a:solidFill>
                  <a:srgbClr val="566275"/>
                </a:solidFill>
                <a:latin typeface="Arial"/>
                <a:ea typeface="Arial"/>
                <a:cs typeface="Arial"/>
              </a:defRPr>
            </a:pPr>
            <a:r>
              <a:rPr sz="1350" b="0">
                <a:solidFill>
                  <a:srgbClr val="566275"/>
                </a:solidFill>
                <a:latin typeface="Arial"/>
                <a:ea typeface="Arial"/>
                <a:cs typeface="Arial"/>
              </a:rPr>
              <a:t>The evidence shows a multi-stage attack rather than a single suspicious event</a:t>
            </a:r>
          </a:p>
        </p:txBody>
      </p:sp>
      <p:sp>
        <p:nvSpPr>
          <p:cNvPr id="3" name="Rectangle 2">
            <a:extLst>
              <a:ext uri="{FF2B5EF4-FFF2-40B4-BE49-F238E27FC236}">
                <a16:creationId xmlns:a16="http://schemas.microsoft.com/office/drawing/2014/main" id="{E4F50CFC-E7A4-43D9-BFD3-9216ECA4AC89}"/>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sp>
        <p:nvSpPr>
          <p:cNvPr id="4" name="Rectangle 3">
            <a:extLst>
              <a:ext uri="{FF2B5EF4-FFF2-40B4-BE49-F238E27FC236}">
                <a16:creationId xmlns:a16="http://schemas.microsoft.com/office/drawing/2014/main" id="{5ABD2C42-DAA5-4743-8CD4-A78F4F9143B7}"/>
              </a:ext>
            </a:extLst>
          </p:cNvPr>
          <p:cNvSpPr>
            <a:spLocks noGrp="1"/>
          </p:cNvSpPr>
          <p:nvPr/>
        </p:nvSpPr>
        <p:spPr>
          <a:xfrm>
            <a:off x="1200150" y="2924175"/>
            <a:ext cx="9715500" cy="47625"/>
          </a:xfrm>
          <a:prstGeom prst="rect">
            <a:avLst/>
          </a:prstGeom>
          <a:solidFill>
            <a:srgbClr val="CBD6E1"/>
          </a:solidFill>
          <a:ln w="9525">
            <a:solidFill>
              <a:srgbClr val="CBD6E1"/>
            </a:solidFill>
            <a:prstDash val="solid"/>
          </a:ln>
        </p:spPr>
        <p:txBody>
          <a:bodyPr/>
          <a:lstStyle/>
          <a:p>
            <a:endParaRPr lang="en-US"/>
          </a:p>
        </p:txBody>
      </p:sp>
      <p:sp>
        <p:nvSpPr>
          <p:cNvPr id="5" name="Oval 4">
            <a:extLst>
              <a:ext uri="{FF2B5EF4-FFF2-40B4-BE49-F238E27FC236}">
                <a16:creationId xmlns:a16="http://schemas.microsoft.com/office/drawing/2014/main" id="{36DB62F9-9426-4881-AB81-43598A75769A}"/>
              </a:ext>
            </a:extLst>
          </p:cNvPr>
          <p:cNvSpPr>
            <a:spLocks noGrp="1"/>
          </p:cNvSpPr>
          <p:nvPr/>
        </p:nvSpPr>
        <p:spPr>
          <a:xfrm>
            <a:off x="1066800" y="2714625"/>
            <a:ext cx="476250" cy="476250"/>
          </a:xfrm>
          <a:prstGeom prst="ellipse">
            <a:avLst/>
          </a:prstGeom>
          <a:solidFill>
            <a:srgbClr val="1478D4"/>
          </a:solidFill>
          <a:ln w="0">
            <a:solidFill>
              <a:srgbClr val="1478D4"/>
            </a:solidFill>
            <a:prstDash val="solid"/>
          </a:ln>
        </p:spPr>
        <p:txBody>
          <a:bodyPr>
            <a:normAutofit fontScale="97558"/>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Rectangle 5">
            <a:extLst>
              <a:ext uri="{FF2B5EF4-FFF2-40B4-BE49-F238E27FC236}">
                <a16:creationId xmlns:a16="http://schemas.microsoft.com/office/drawing/2014/main" id="{D8D5CC7A-4546-4B52-A770-03BA965483D6}"/>
              </a:ext>
            </a:extLst>
          </p:cNvPr>
          <p:cNvSpPr>
            <a:spLocks noGrp="1"/>
          </p:cNvSpPr>
          <p:nvPr/>
        </p:nvSpPr>
        <p:spPr>
          <a:xfrm>
            <a:off x="819150" y="1943100"/>
            <a:ext cx="990600" cy="285750"/>
          </a:xfrm>
          <a:prstGeom prst="rect">
            <a:avLst/>
          </a:prstGeom>
          <a:noFill/>
          <a:ln w="0">
            <a:noFill/>
            <a:prstDash val="solid"/>
          </a:ln>
        </p:spPr>
        <p:txBody>
          <a:bodyPr>
            <a:normAutofit/>
          </a:bodyPr>
          <a:lstStyle>
            <a:defPPr algn="ctr">
              <a:defRPr sz="1275" b="1">
                <a:solidFill>
                  <a:srgbClr val="FF6A2A"/>
                </a:solidFill>
                <a:latin typeface="Arial"/>
                <a:ea typeface="Arial"/>
                <a:cs typeface="Arial"/>
              </a:defRPr>
            </a:defPPr>
          </a:lstStyle>
          <a:p>
            <a:pPr algn="ctr">
              <a:defRPr sz="1275" b="1">
                <a:solidFill>
                  <a:srgbClr val="FF6A2A"/>
                </a:solidFill>
                <a:latin typeface="Arial"/>
                <a:ea typeface="Arial"/>
                <a:cs typeface="Arial"/>
              </a:defRPr>
            </a:pPr>
            <a:r>
              <a:rPr sz="1275" b="1">
                <a:solidFill>
                  <a:srgbClr val="FF6A2A"/>
                </a:solidFill>
                <a:latin typeface="Arial"/>
                <a:ea typeface="Arial"/>
                <a:cs typeface="Arial"/>
              </a:rPr>
              <a:t>07 APR</a:t>
            </a:r>
          </a:p>
        </p:txBody>
      </p:sp>
      <p:sp>
        <p:nvSpPr>
          <p:cNvPr id="7" name="Rectangle 6">
            <a:extLst>
              <a:ext uri="{FF2B5EF4-FFF2-40B4-BE49-F238E27FC236}">
                <a16:creationId xmlns:a16="http://schemas.microsoft.com/office/drawing/2014/main" id="{ADE94F70-98B8-4F54-85C7-F0E3B7A50FCD}"/>
              </a:ext>
            </a:extLst>
          </p:cNvPr>
          <p:cNvSpPr>
            <a:spLocks noGrp="1"/>
          </p:cNvSpPr>
          <p:nvPr/>
        </p:nvSpPr>
        <p:spPr>
          <a:xfrm>
            <a:off x="552450" y="3352800"/>
            <a:ext cx="1524000" cy="361950"/>
          </a:xfrm>
          <a:prstGeom prst="rect">
            <a:avLst/>
          </a:prstGeom>
          <a:noFill/>
          <a:ln w="0">
            <a:noFill/>
            <a:prstDash val="solid"/>
          </a:ln>
        </p:spPr>
        <p:txBody>
          <a:bodyPr>
            <a:normAutofit/>
          </a:bodyPr>
          <a:lstStyle>
            <a:defPPr algn="ctr">
              <a:defRPr sz="1500" b="1">
                <a:solidFill>
                  <a:srgbClr val="0B3454"/>
                </a:solidFill>
                <a:latin typeface="Arial"/>
                <a:ea typeface="Arial"/>
                <a:cs typeface="Arial"/>
              </a:defRPr>
            </a:defPPr>
          </a:lstStyle>
          <a:p>
            <a:pPr algn="ctr">
              <a:defRPr sz="1500" b="1">
                <a:solidFill>
                  <a:srgbClr val="0B3454"/>
                </a:solidFill>
                <a:latin typeface="Arial"/>
                <a:ea typeface="Arial"/>
                <a:cs typeface="Arial"/>
              </a:defRPr>
            </a:pPr>
            <a:r>
              <a:rPr sz="1500" b="1">
                <a:solidFill>
                  <a:srgbClr val="0B3454"/>
                </a:solidFill>
                <a:latin typeface="Arial"/>
                <a:ea typeface="Arial"/>
                <a:cs typeface="Arial"/>
              </a:rPr>
              <a:t>Infrastructure</a:t>
            </a:r>
          </a:p>
        </p:txBody>
      </p:sp>
      <p:sp>
        <p:nvSpPr>
          <p:cNvPr id="8" name="Rectangle 7">
            <a:extLst>
              <a:ext uri="{FF2B5EF4-FFF2-40B4-BE49-F238E27FC236}">
                <a16:creationId xmlns:a16="http://schemas.microsoft.com/office/drawing/2014/main" id="{87444E32-169C-4AAC-B176-9F53F5CB5F99}"/>
              </a:ext>
            </a:extLst>
          </p:cNvPr>
          <p:cNvSpPr>
            <a:spLocks noGrp="1"/>
          </p:cNvSpPr>
          <p:nvPr/>
        </p:nvSpPr>
        <p:spPr>
          <a:xfrm>
            <a:off x="400050" y="3790950"/>
            <a:ext cx="1857375" cy="742950"/>
          </a:xfrm>
          <a:prstGeom prst="rect">
            <a:avLst/>
          </a:prstGeom>
          <a:noFill/>
          <a:ln w="0">
            <a:noFill/>
            <a:prstDash val="solid"/>
          </a:ln>
        </p:spPr>
        <p:txBody>
          <a:bodyPr>
            <a:normAutofit/>
          </a:bodyPr>
          <a:lstStyle>
            <a:defPPr algn="ctr">
              <a:defRPr sz="1200" b="0">
                <a:solidFill>
                  <a:srgbClr val="566275"/>
                </a:solidFill>
                <a:latin typeface="Arial"/>
                <a:ea typeface="Arial"/>
                <a:cs typeface="Arial"/>
              </a:defRPr>
            </a:defPPr>
          </a:lstStyle>
          <a:p>
            <a:pPr algn="ctr">
              <a:defRPr sz="1200" b="0">
                <a:solidFill>
                  <a:srgbClr val="566275"/>
                </a:solidFill>
                <a:latin typeface="Arial"/>
                <a:ea typeface="Arial"/>
                <a:cs typeface="Arial"/>
              </a:defRPr>
            </a:pPr>
            <a:r>
              <a:rPr sz="1200" b="0">
                <a:solidFill>
                  <a:srgbClr val="566275"/>
                </a:solidFill>
                <a:latin typeface="Arial"/>
                <a:ea typeface="Arial"/>
                <a:cs typeface="Arial"/>
              </a:rPr>
              <a:t>IP linked to</a:t>
            </a:r>
          </a:p>
          <a:p>
            <a:pPr algn="ctr">
              <a:defRPr sz="1200" b="0">
                <a:solidFill>
                  <a:srgbClr val="566275"/>
                </a:solidFill>
                <a:latin typeface="Arial"/>
                <a:ea typeface="Arial"/>
                <a:cs typeface="Arial"/>
              </a:defRPr>
            </a:pPr>
            <a:r>
              <a:rPr sz="1200" b="0">
                <a:solidFill>
                  <a:srgbClr val="566275"/>
                </a:solidFill>
                <a:latin typeface="Arial"/>
                <a:ea typeface="Arial"/>
                <a:cs typeface="Arial"/>
              </a:rPr>
              <a:t>betterlyrics4u.com</a:t>
            </a:r>
          </a:p>
        </p:txBody>
      </p:sp>
      <p:sp>
        <p:nvSpPr>
          <p:cNvPr id="9" name="Oval 8">
            <a:extLst>
              <a:ext uri="{FF2B5EF4-FFF2-40B4-BE49-F238E27FC236}">
                <a16:creationId xmlns:a16="http://schemas.microsoft.com/office/drawing/2014/main" id="{CEE81736-C437-4B75-9C01-574960A94B71}"/>
              </a:ext>
            </a:extLst>
          </p:cNvPr>
          <p:cNvSpPr>
            <a:spLocks noGrp="1"/>
          </p:cNvSpPr>
          <p:nvPr/>
        </p:nvSpPr>
        <p:spPr>
          <a:xfrm>
            <a:off x="3429000" y="2714625"/>
            <a:ext cx="476250" cy="476250"/>
          </a:xfrm>
          <a:prstGeom prst="ellipse">
            <a:avLst/>
          </a:prstGeom>
          <a:solidFill>
            <a:srgbClr val="1478D4"/>
          </a:solidFill>
          <a:ln w="0">
            <a:solidFill>
              <a:srgbClr val="1478D4"/>
            </a:solidFill>
            <a:prstDash val="solid"/>
          </a:ln>
        </p:spPr>
        <p:txBody>
          <a:bodyPr>
            <a:normAutofit fontScale="97558"/>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9442D6F4-1EBC-44DC-B295-B1D0A5E01495}"/>
              </a:ext>
            </a:extLst>
          </p:cNvPr>
          <p:cNvSpPr>
            <a:spLocks noGrp="1"/>
          </p:cNvSpPr>
          <p:nvPr/>
        </p:nvSpPr>
        <p:spPr>
          <a:xfrm>
            <a:off x="3181350" y="1943100"/>
            <a:ext cx="990600" cy="285750"/>
          </a:xfrm>
          <a:prstGeom prst="rect">
            <a:avLst/>
          </a:prstGeom>
          <a:noFill/>
          <a:ln w="0">
            <a:noFill/>
            <a:prstDash val="solid"/>
          </a:ln>
        </p:spPr>
        <p:txBody>
          <a:bodyPr>
            <a:normAutofit/>
          </a:bodyPr>
          <a:lstStyle>
            <a:defPPr algn="ctr">
              <a:defRPr sz="1275" b="1">
                <a:solidFill>
                  <a:srgbClr val="FF6A2A"/>
                </a:solidFill>
                <a:latin typeface="Arial"/>
                <a:ea typeface="Arial"/>
                <a:cs typeface="Arial"/>
              </a:defRPr>
            </a:defPPr>
          </a:lstStyle>
          <a:p>
            <a:pPr algn="ctr">
              <a:defRPr sz="1275" b="1">
                <a:solidFill>
                  <a:srgbClr val="FF6A2A"/>
                </a:solidFill>
                <a:latin typeface="Arial"/>
                <a:ea typeface="Arial"/>
                <a:cs typeface="Arial"/>
              </a:defRPr>
            </a:pPr>
            <a:r>
              <a:rPr sz="1275" b="1">
                <a:solidFill>
                  <a:srgbClr val="FF6A2A"/>
                </a:solidFill>
                <a:latin typeface="Arial"/>
                <a:ea typeface="Arial"/>
                <a:cs typeface="Arial"/>
              </a:rPr>
              <a:t>10 APR</a:t>
            </a:r>
          </a:p>
        </p:txBody>
      </p:sp>
      <p:sp>
        <p:nvSpPr>
          <p:cNvPr id="11" name="Rectangle 10">
            <a:extLst>
              <a:ext uri="{FF2B5EF4-FFF2-40B4-BE49-F238E27FC236}">
                <a16:creationId xmlns:a16="http://schemas.microsoft.com/office/drawing/2014/main" id="{C324CCB3-40B8-4BF4-A344-7FC046D36D87}"/>
              </a:ext>
            </a:extLst>
          </p:cNvPr>
          <p:cNvSpPr>
            <a:spLocks noGrp="1"/>
          </p:cNvSpPr>
          <p:nvPr/>
        </p:nvSpPr>
        <p:spPr>
          <a:xfrm>
            <a:off x="2914650" y="3352800"/>
            <a:ext cx="1524000" cy="361950"/>
          </a:xfrm>
          <a:prstGeom prst="rect">
            <a:avLst/>
          </a:prstGeom>
          <a:noFill/>
          <a:ln w="0">
            <a:noFill/>
            <a:prstDash val="solid"/>
          </a:ln>
        </p:spPr>
        <p:txBody>
          <a:bodyPr>
            <a:normAutofit fontScale="90692"/>
          </a:bodyPr>
          <a:lstStyle>
            <a:defPPr algn="ctr">
              <a:defRPr sz="1500" b="1">
                <a:solidFill>
                  <a:srgbClr val="0B3454"/>
                </a:solidFill>
                <a:latin typeface="Arial"/>
                <a:ea typeface="Arial"/>
                <a:cs typeface="Arial"/>
              </a:defRPr>
            </a:defPPr>
          </a:lstStyle>
          <a:p>
            <a:pPr algn="ctr">
              <a:defRPr sz="1500" b="1">
                <a:solidFill>
                  <a:srgbClr val="0B3454"/>
                </a:solidFill>
                <a:latin typeface="Arial"/>
                <a:ea typeface="Arial"/>
                <a:cs typeface="Arial"/>
              </a:defRPr>
            </a:pPr>
            <a:r>
              <a:rPr sz="1500" b="1">
                <a:solidFill>
                  <a:srgbClr val="0B3454"/>
                </a:solidFill>
                <a:latin typeface="Arial"/>
                <a:ea typeface="Arial"/>
                <a:cs typeface="Arial"/>
              </a:rPr>
              <a:t>Recon and reset</a:t>
            </a:r>
          </a:p>
        </p:txBody>
      </p:sp>
      <p:sp>
        <p:nvSpPr>
          <p:cNvPr id="12" name="Rectangle 11">
            <a:extLst>
              <a:ext uri="{FF2B5EF4-FFF2-40B4-BE49-F238E27FC236}">
                <a16:creationId xmlns:a16="http://schemas.microsoft.com/office/drawing/2014/main" id="{76FA368E-E4B9-48CF-BA19-8171DB289FCD}"/>
              </a:ext>
            </a:extLst>
          </p:cNvPr>
          <p:cNvSpPr>
            <a:spLocks noGrp="1"/>
          </p:cNvSpPr>
          <p:nvPr/>
        </p:nvSpPr>
        <p:spPr>
          <a:xfrm>
            <a:off x="2762250" y="3790950"/>
            <a:ext cx="1857375" cy="742950"/>
          </a:xfrm>
          <a:prstGeom prst="rect">
            <a:avLst/>
          </a:prstGeom>
          <a:noFill/>
          <a:ln w="0">
            <a:noFill/>
            <a:prstDash val="solid"/>
          </a:ln>
        </p:spPr>
        <p:txBody>
          <a:bodyPr>
            <a:normAutofit/>
          </a:bodyPr>
          <a:lstStyle>
            <a:defPPr algn="ctr">
              <a:defRPr sz="1200" b="0">
                <a:solidFill>
                  <a:srgbClr val="566275"/>
                </a:solidFill>
                <a:latin typeface="Arial"/>
                <a:ea typeface="Arial"/>
                <a:cs typeface="Arial"/>
              </a:defRPr>
            </a:defPPr>
          </a:lstStyle>
          <a:p>
            <a:pPr algn="ctr">
              <a:defRPr sz="1200" b="0">
                <a:solidFill>
                  <a:srgbClr val="566275"/>
                </a:solidFill>
                <a:latin typeface="Arial"/>
                <a:ea typeface="Arial"/>
                <a:cs typeface="Arial"/>
              </a:defRPr>
            </a:pPr>
            <a:r>
              <a:rPr sz="1200" b="0">
                <a:solidFill>
                  <a:srgbClr val="566275"/>
                </a:solidFill>
                <a:latin typeface="Arial"/>
                <a:ea typeface="Arial"/>
                <a:cs typeface="Arial"/>
              </a:rPr>
              <a:t>Dwake researched;</a:t>
            </a:r>
          </a:p>
          <a:p>
            <a:pPr algn="ctr">
              <a:defRPr sz="1200" b="0">
                <a:solidFill>
                  <a:srgbClr val="566275"/>
                </a:solidFill>
                <a:latin typeface="Arial"/>
                <a:ea typeface="Arial"/>
                <a:cs typeface="Arial"/>
              </a:defRPr>
            </a:pPr>
            <a:r>
              <a:rPr sz="1200" b="0">
                <a:solidFill>
                  <a:srgbClr val="566275"/>
                </a:solidFill>
                <a:latin typeface="Arial"/>
                <a:ea typeface="Arial"/>
                <a:cs typeface="Arial"/>
              </a:rPr>
              <a:t>security answers used</a:t>
            </a:r>
          </a:p>
        </p:txBody>
      </p:sp>
      <p:sp>
        <p:nvSpPr>
          <p:cNvPr id="13" name="Oval 12">
            <a:extLst>
              <a:ext uri="{FF2B5EF4-FFF2-40B4-BE49-F238E27FC236}">
                <a16:creationId xmlns:a16="http://schemas.microsoft.com/office/drawing/2014/main" id="{9133E9F9-E28A-445E-B1AD-B6C160D7FA3C}"/>
              </a:ext>
            </a:extLst>
          </p:cNvPr>
          <p:cNvSpPr>
            <a:spLocks noGrp="1"/>
          </p:cNvSpPr>
          <p:nvPr/>
        </p:nvSpPr>
        <p:spPr>
          <a:xfrm>
            <a:off x="5791200" y="2714625"/>
            <a:ext cx="476250" cy="476250"/>
          </a:xfrm>
          <a:prstGeom prst="ellipse">
            <a:avLst/>
          </a:prstGeom>
          <a:solidFill>
            <a:srgbClr val="1478D4"/>
          </a:solidFill>
          <a:ln w="0">
            <a:solidFill>
              <a:srgbClr val="1478D4"/>
            </a:solidFill>
            <a:prstDash val="solid"/>
          </a:ln>
        </p:spPr>
        <p:txBody>
          <a:bodyPr>
            <a:normAutofit fontScale="97558"/>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Rectangle 13">
            <a:extLst>
              <a:ext uri="{FF2B5EF4-FFF2-40B4-BE49-F238E27FC236}">
                <a16:creationId xmlns:a16="http://schemas.microsoft.com/office/drawing/2014/main" id="{99C5CA55-6CBD-48CE-925D-971334D352E6}"/>
              </a:ext>
            </a:extLst>
          </p:cNvPr>
          <p:cNvSpPr>
            <a:spLocks noGrp="1"/>
          </p:cNvSpPr>
          <p:nvPr/>
        </p:nvSpPr>
        <p:spPr>
          <a:xfrm>
            <a:off x="5543550" y="1943100"/>
            <a:ext cx="990600" cy="285750"/>
          </a:xfrm>
          <a:prstGeom prst="rect">
            <a:avLst/>
          </a:prstGeom>
          <a:noFill/>
          <a:ln w="0">
            <a:noFill/>
            <a:prstDash val="solid"/>
          </a:ln>
        </p:spPr>
        <p:txBody>
          <a:bodyPr>
            <a:normAutofit/>
          </a:bodyPr>
          <a:lstStyle>
            <a:defPPr algn="ctr">
              <a:defRPr sz="1275" b="1">
                <a:solidFill>
                  <a:srgbClr val="FF6A2A"/>
                </a:solidFill>
                <a:latin typeface="Arial"/>
                <a:ea typeface="Arial"/>
                <a:cs typeface="Arial"/>
              </a:defRPr>
            </a:defPPr>
          </a:lstStyle>
          <a:p>
            <a:pPr algn="ctr">
              <a:defRPr sz="1275" b="1">
                <a:solidFill>
                  <a:srgbClr val="FF6A2A"/>
                </a:solidFill>
                <a:latin typeface="Arial"/>
                <a:ea typeface="Arial"/>
                <a:cs typeface="Arial"/>
              </a:defRPr>
            </a:pPr>
            <a:r>
              <a:rPr sz="1275" b="1">
                <a:solidFill>
                  <a:srgbClr val="FF6A2A"/>
                </a:solidFill>
                <a:latin typeface="Arial"/>
                <a:ea typeface="Arial"/>
                <a:cs typeface="Arial"/>
              </a:rPr>
              <a:t>15 APR</a:t>
            </a:r>
          </a:p>
        </p:txBody>
      </p:sp>
      <p:sp>
        <p:nvSpPr>
          <p:cNvPr id="15" name="Rectangle 14">
            <a:extLst>
              <a:ext uri="{FF2B5EF4-FFF2-40B4-BE49-F238E27FC236}">
                <a16:creationId xmlns:a16="http://schemas.microsoft.com/office/drawing/2014/main" id="{C91E69C2-331D-4917-8D7F-7DA200AF7F66}"/>
              </a:ext>
            </a:extLst>
          </p:cNvPr>
          <p:cNvSpPr>
            <a:spLocks noGrp="1"/>
          </p:cNvSpPr>
          <p:nvPr/>
        </p:nvSpPr>
        <p:spPr>
          <a:xfrm>
            <a:off x="5276850" y="3352800"/>
            <a:ext cx="1524000" cy="361950"/>
          </a:xfrm>
          <a:prstGeom prst="rect">
            <a:avLst/>
          </a:prstGeom>
          <a:noFill/>
          <a:ln w="0">
            <a:noFill/>
            <a:prstDash val="solid"/>
          </a:ln>
        </p:spPr>
        <p:txBody>
          <a:bodyPr>
            <a:normAutofit/>
          </a:bodyPr>
          <a:lstStyle>
            <a:defPPr algn="ctr">
              <a:defRPr sz="1500" b="1">
                <a:solidFill>
                  <a:srgbClr val="0B3454"/>
                </a:solidFill>
                <a:latin typeface="Arial"/>
                <a:ea typeface="Arial"/>
                <a:cs typeface="Arial"/>
              </a:defRPr>
            </a:defPPr>
          </a:lstStyle>
          <a:p>
            <a:pPr algn="ctr">
              <a:defRPr sz="1500" b="1">
                <a:solidFill>
                  <a:srgbClr val="0B3454"/>
                </a:solidFill>
                <a:latin typeface="Arial"/>
                <a:ea typeface="Arial"/>
                <a:cs typeface="Arial"/>
              </a:defRPr>
            </a:pPr>
            <a:r>
              <a:rPr sz="1500" b="1">
                <a:solidFill>
                  <a:srgbClr val="0B3454"/>
                </a:solidFill>
                <a:latin typeface="Arial"/>
                <a:ea typeface="Arial"/>
                <a:cs typeface="Arial"/>
              </a:rPr>
              <a:t>Delivery</a:t>
            </a:r>
          </a:p>
        </p:txBody>
      </p:sp>
      <p:sp>
        <p:nvSpPr>
          <p:cNvPr id="16" name="Rectangle 15">
            <a:extLst>
              <a:ext uri="{FF2B5EF4-FFF2-40B4-BE49-F238E27FC236}">
                <a16:creationId xmlns:a16="http://schemas.microsoft.com/office/drawing/2014/main" id="{7B289111-C6AB-4C2F-BC91-11807DD86F13}"/>
              </a:ext>
            </a:extLst>
          </p:cNvPr>
          <p:cNvSpPr>
            <a:spLocks noGrp="1"/>
          </p:cNvSpPr>
          <p:nvPr/>
        </p:nvSpPr>
        <p:spPr>
          <a:xfrm>
            <a:off x="5124450" y="3790950"/>
            <a:ext cx="1857375" cy="742950"/>
          </a:xfrm>
          <a:prstGeom prst="rect">
            <a:avLst/>
          </a:prstGeom>
          <a:noFill/>
          <a:ln w="0">
            <a:noFill/>
            <a:prstDash val="solid"/>
          </a:ln>
        </p:spPr>
        <p:txBody>
          <a:bodyPr>
            <a:normAutofit/>
          </a:bodyPr>
          <a:lstStyle>
            <a:defPPr algn="ctr">
              <a:defRPr sz="1200" b="0">
                <a:solidFill>
                  <a:srgbClr val="566275"/>
                </a:solidFill>
                <a:latin typeface="Arial"/>
                <a:ea typeface="Arial"/>
                <a:cs typeface="Arial"/>
              </a:defRPr>
            </a:defPPr>
          </a:lstStyle>
          <a:p>
            <a:pPr algn="ctr">
              <a:defRPr sz="1200" b="0">
                <a:solidFill>
                  <a:srgbClr val="566275"/>
                </a:solidFill>
                <a:latin typeface="Arial"/>
                <a:ea typeface="Arial"/>
                <a:cs typeface="Arial"/>
              </a:defRPr>
            </a:pPr>
            <a:r>
              <a:rPr sz="1200" b="0">
                <a:solidFill>
                  <a:srgbClr val="566275"/>
                </a:solidFill>
                <a:latin typeface="Arial"/>
                <a:ea typeface="Arial"/>
                <a:cs typeface="Arial"/>
              </a:rPr>
              <a:t>11:07 email arrived</a:t>
            </a:r>
          </a:p>
          <a:p>
            <a:pPr algn="ctr">
              <a:defRPr sz="1200" b="0">
                <a:solidFill>
                  <a:srgbClr val="566275"/>
                </a:solidFill>
                <a:latin typeface="Arial"/>
                <a:ea typeface="Arial"/>
                <a:cs typeface="Arial"/>
              </a:defRPr>
            </a:pPr>
            <a:r>
              <a:rPr sz="1200" b="0">
                <a:solidFill>
                  <a:srgbClr val="566275"/>
                </a:solidFill>
                <a:latin typeface="Arial"/>
                <a:ea typeface="Arial"/>
                <a:cs typeface="Arial"/>
              </a:rPr>
              <a:t>with a CLEAN verdict</a:t>
            </a:r>
          </a:p>
        </p:txBody>
      </p:sp>
      <p:sp>
        <p:nvSpPr>
          <p:cNvPr id="17" name="Oval 16">
            <a:extLst>
              <a:ext uri="{FF2B5EF4-FFF2-40B4-BE49-F238E27FC236}">
                <a16:creationId xmlns:a16="http://schemas.microsoft.com/office/drawing/2014/main" id="{94E3D51B-9D7E-4F05-BE18-AE20CAD14921}"/>
              </a:ext>
            </a:extLst>
          </p:cNvPr>
          <p:cNvSpPr>
            <a:spLocks noGrp="1"/>
          </p:cNvSpPr>
          <p:nvPr/>
        </p:nvSpPr>
        <p:spPr>
          <a:xfrm>
            <a:off x="8153400" y="2714625"/>
            <a:ext cx="476250" cy="476250"/>
          </a:xfrm>
          <a:prstGeom prst="ellipse">
            <a:avLst/>
          </a:prstGeom>
          <a:solidFill>
            <a:srgbClr val="1478D4"/>
          </a:solidFill>
          <a:ln w="0">
            <a:solidFill>
              <a:srgbClr val="1478D4"/>
            </a:solidFill>
            <a:prstDash val="solid"/>
          </a:ln>
        </p:spPr>
        <p:txBody>
          <a:bodyPr>
            <a:normAutofit fontScale="97558"/>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8" name="Rectangle 17">
            <a:extLst>
              <a:ext uri="{FF2B5EF4-FFF2-40B4-BE49-F238E27FC236}">
                <a16:creationId xmlns:a16="http://schemas.microsoft.com/office/drawing/2014/main" id="{B3FDD579-ACBF-4CFA-AEEB-71CEEE72ABFA}"/>
              </a:ext>
            </a:extLst>
          </p:cNvPr>
          <p:cNvSpPr>
            <a:spLocks noGrp="1"/>
          </p:cNvSpPr>
          <p:nvPr/>
        </p:nvSpPr>
        <p:spPr>
          <a:xfrm>
            <a:off x="7905750" y="1943100"/>
            <a:ext cx="990600" cy="285750"/>
          </a:xfrm>
          <a:prstGeom prst="rect">
            <a:avLst/>
          </a:prstGeom>
          <a:noFill/>
          <a:ln w="0">
            <a:noFill/>
            <a:prstDash val="solid"/>
          </a:ln>
        </p:spPr>
        <p:txBody>
          <a:bodyPr>
            <a:normAutofit/>
          </a:bodyPr>
          <a:lstStyle>
            <a:defPPr algn="ctr">
              <a:defRPr sz="1275" b="1">
                <a:solidFill>
                  <a:srgbClr val="FF6A2A"/>
                </a:solidFill>
                <a:latin typeface="Arial"/>
                <a:ea typeface="Arial"/>
                <a:cs typeface="Arial"/>
              </a:defRPr>
            </a:defPPr>
          </a:lstStyle>
          <a:p>
            <a:pPr algn="ctr">
              <a:defRPr sz="1275" b="1">
                <a:solidFill>
                  <a:srgbClr val="FF6A2A"/>
                </a:solidFill>
                <a:latin typeface="Arial"/>
                <a:ea typeface="Arial"/>
                <a:cs typeface="Arial"/>
              </a:defRPr>
            </a:pPr>
            <a:r>
              <a:rPr sz="1275" b="1">
                <a:solidFill>
                  <a:srgbClr val="FF6A2A"/>
                </a:solidFill>
                <a:latin typeface="Arial"/>
                <a:ea typeface="Arial"/>
                <a:cs typeface="Arial"/>
              </a:rPr>
              <a:t>15 APR</a:t>
            </a:r>
          </a:p>
        </p:txBody>
      </p:sp>
      <p:sp>
        <p:nvSpPr>
          <p:cNvPr id="19" name="Rectangle 18">
            <a:extLst>
              <a:ext uri="{FF2B5EF4-FFF2-40B4-BE49-F238E27FC236}">
                <a16:creationId xmlns:a16="http://schemas.microsoft.com/office/drawing/2014/main" id="{2EAAE485-12D7-4083-9921-5EF0A1BB5933}"/>
              </a:ext>
            </a:extLst>
          </p:cNvPr>
          <p:cNvSpPr>
            <a:spLocks noGrp="1"/>
          </p:cNvSpPr>
          <p:nvPr/>
        </p:nvSpPr>
        <p:spPr>
          <a:xfrm>
            <a:off x="7639050" y="3352800"/>
            <a:ext cx="1524000" cy="361950"/>
          </a:xfrm>
          <a:prstGeom prst="rect">
            <a:avLst/>
          </a:prstGeom>
          <a:noFill/>
          <a:ln w="0">
            <a:noFill/>
            <a:prstDash val="solid"/>
          </a:ln>
        </p:spPr>
        <p:txBody>
          <a:bodyPr>
            <a:normAutofit/>
          </a:bodyPr>
          <a:lstStyle>
            <a:defPPr algn="ctr">
              <a:defRPr sz="1500" b="1">
                <a:solidFill>
                  <a:srgbClr val="0B3454"/>
                </a:solidFill>
                <a:latin typeface="Arial"/>
                <a:ea typeface="Arial"/>
                <a:cs typeface="Arial"/>
              </a:defRPr>
            </a:defPPr>
          </a:lstStyle>
          <a:p>
            <a:pPr algn="ctr">
              <a:defRPr sz="1500" b="1">
                <a:solidFill>
                  <a:srgbClr val="0B3454"/>
                </a:solidFill>
                <a:latin typeface="Arial"/>
                <a:ea typeface="Arial"/>
                <a:cs typeface="Arial"/>
              </a:defRPr>
            </a:pPr>
            <a:r>
              <a:rPr sz="1500" b="1">
                <a:solidFill>
                  <a:srgbClr val="0B3454"/>
                </a:solidFill>
                <a:latin typeface="Arial"/>
                <a:ea typeface="Arial"/>
                <a:cs typeface="Arial"/>
              </a:rPr>
              <a:t>Compromise</a:t>
            </a:r>
          </a:p>
        </p:txBody>
      </p:sp>
      <p:sp>
        <p:nvSpPr>
          <p:cNvPr id="20" name="Rectangle 19">
            <a:extLst>
              <a:ext uri="{FF2B5EF4-FFF2-40B4-BE49-F238E27FC236}">
                <a16:creationId xmlns:a16="http://schemas.microsoft.com/office/drawing/2014/main" id="{800EF9E2-5310-47D5-A148-F6FDB81D3054}"/>
              </a:ext>
            </a:extLst>
          </p:cNvPr>
          <p:cNvSpPr>
            <a:spLocks noGrp="1"/>
          </p:cNvSpPr>
          <p:nvPr/>
        </p:nvSpPr>
        <p:spPr>
          <a:xfrm>
            <a:off x="7486650" y="3790950"/>
            <a:ext cx="1857375" cy="742950"/>
          </a:xfrm>
          <a:prstGeom prst="rect">
            <a:avLst/>
          </a:prstGeom>
          <a:noFill/>
          <a:ln w="0">
            <a:noFill/>
            <a:prstDash val="solid"/>
          </a:ln>
        </p:spPr>
        <p:txBody>
          <a:bodyPr>
            <a:normAutofit/>
          </a:bodyPr>
          <a:lstStyle>
            <a:defPPr algn="ctr">
              <a:defRPr sz="1200" b="0">
                <a:solidFill>
                  <a:srgbClr val="566275"/>
                </a:solidFill>
                <a:latin typeface="Arial"/>
                <a:ea typeface="Arial"/>
                <a:cs typeface="Arial"/>
              </a:defRPr>
            </a:defPPr>
          </a:lstStyle>
          <a:p>
            <a:pPr algn="ctr">
              <a:defRPr sz="1200" b="0">
                <a:solidFill>
                  <a:srgbClr val="566275"/>
                </a:solidFill>
                <a:latin typeface="Arial"/>
                <a:ea typeface="Arial"/>
                <a:cs typeface="Arial"/>
              </a:defRPr>
            </a:pPr>
            <a:r>
              <a:rPr sz="1200" b="0">
                <a:solidFill>
                  <a:srgbClr val="566275"/>
                </a:solidFill>
                <a:latin typeface="Arial"/>
                <a:ea typeface="Arial"/>
                <a:cs typeface="Arial"/>
              </a:rPr>
              <a:t>12:03 click; 13:03</a:t>
            </a:r>
          </a:p>
          <a:p>
            <a:pPr algn="ctr">
              <a:defRPr sz="1200" b="0">
                <a:solidFill>
                  <a:srgbClr val="566275"/>
                </a:solidFill>
                <a:latin typeface="Arial"/>
                <a:ea typeface="Arial"/>
                <a:cs typeface="Arial"/>
              </a:defRPr>
            </a:pPr>
            <a:r>
              <a:rPr sz="1200" b="0">
                <a:solidFill>
                  <a:srgbClr val="566275"/>
                </a:solidFill>
                <a:latin typeface="Arial"/>
                <a:ea typeface="Arial"/>
                <a:cs typeface="Arial"/>
              </a:rPr>
              <a:t>successful login</a:t>
            </a:r>
          </a:p>
        </p:txBody>
      </p:sp>
      <p:sp>
        <p:nvSpPr>
          <p:cNvPr id="21" name="Oval 20">
            <a:extLst>
              <a:ext uri="{FF2B5EF4-FFF2-40B4-BE49-F238E27FC236}">
                <a16:creationId xmlns:a16="http://schemas.microsoft.com/office/drawing/2014/main" id="{1BAA4843-69A6-49D8-B3F2-3998A82ED9EA}"/>
              </a:ext>
            </a:extLst>
          </p:cNvPr>
          <p:cNvSpPr>
            <a:spLocks noGrp="1"/>
          </p:cNvSpPr>
          <p:nvPr/>
        </p:nvSpPr>
        <p:spPr>
          <a:xfrm>
            <a:off x="10515600" y="2714625"/>
            <a:ext cx="476250" cy="476250"/>
          </a:xfrm>
          <a:prstGeom prst="ellipse">
            <a:avLst/>
          </a:prstGeom>
          <a:solidFill>
            <a:srgbClr val="FF6A2A"/>
          </a:solidFill>
          <a:ln w="0">
            <a:solidFill>
              <a:srgbClr val="FF6A2A"/>
            </a:solidFill>
            <a:prstDash val="solid"/>
          </a:ln>
        </p:spPr>
        <p:txBody>
          <a:bodyPr>
            <a:normAutofit fontScale="97558"/>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22" name="Rectangle 21">
            <a:extLst>
              <a:ext uri="{FF2B5EF4-FFF2-40B4-BE49-F238E27FC236}">
                <a16:creationId xmlns:a16="http://schemas.microsoft.com/office/drawing/2014/main" id="{64EB9655-8D56-4A68-9199-A6DE4ACD6E13}"/>
              </a:ext>
            </a:extLst>
          </p:cNvPr>
          <p:cNvSpPr>
            <a:spLocks noGrp="1"/>
          </p:cNvSpPr>
          <p:nvPr/>
        </p:nvSpPr>
        <p:spPr>
          <a:xfrm>
            <a:off x="10267950" y="1943100"/>
            <a:ext cx="990600" cy="285750"/>
          </a:xfrm>
          <a:prstGeom prst="rect">
            <a:avLst/>
          </a:prstGeom>
          <a:noFill/>
          <a:ln w="0">
            <a:noFill/>
            <a:prstDash val="solid"/>
          </a:ln>
        </p:spPr>
        <p:txBody>
          <a:bodyPr>
            <a:normAutofit/>
          </a:bodyPr>
          <a:lstStyle>
            <a:defPPr algn="ctr">
              <a:defRPr sz="1275" b="1">
                <a:solidFill>
                  <a:srgbClr val="FF6A2A"/>
                </a:solidFill>
                <a:latin typeface="Arial"/>
                <a:ea typeface="Arial"/>
                <a:cs typeface="Arial"/>
              </a:defRPr>
            </a:defPPr>
          </a:lstStyle>
          <a:p>
            <a:pPr algn="ctr">
              <a:defRPr sz="1275" b="1">
                <a:solidFill>
                  <a:srgbClr val="FF6A2A"/>
                </a:solidFill>
                <a:latin typeface="Arial"/>
                <a:ea typeface="Arial"/>
                <a:cs typeface="Arial"/>
              </a:defRPr>
            </a:pPr>
            <a:r>
              <a:rPr sz="1275" b="1">
                <a:solidFill>
                  <a:srgbClr val="FF6A2A"/>
                </a:solidFill>
                <a:latin typeface="Arial"/>
                <a:ea typeface="Arial"/>
                <a:cs typeface="Arial"/>
              </a:rPr>
              <a:t>30 APR</a:t>
            </a:r>
          </a:p>
        </p:txBody>
      </p:sp>
      <p:sp>
        <p:nvSpPr>
          <p:cNvPr id="23" name="Rectangle 22">
            <a:extLst>
              <a:ext uri="{FF2B5EF4-FFF2-40B4-BE49-F238E27FC236}">
                <a16:creationId xmlns:a16="http://schemas.microsoft.com/office/drawing/2014/main" id="{6850BD14-D52E-49BB-B6A3-8CC07EC1E9B6}"/>
              </a:ext>
            </a:extLst>
          </p:cNvPr>
          <p:cNvSpPr>
            <a:spLocks noGrp="1"/>
          </p:cNvSpPr>
          <p:nvPr/>
        </p:nvSpPr>
        <p:spPr>
          <a:xfrm>
            <a:off x="10001250" y="3352800"/>
            <a:ext cx="1524000" cy="361950"/>
          </a:xfrm>
          <a:prstGeom prst="rect">
            <a:avLst/>
          </a:prstGeom>
          <a:noFill/>
          <a:ln w="0">
            <a:noFill/>
            <a:prstDash val="solid"/>
          </a:ln>
        </p:spPr>
        <p:txBody>
          <a:bodyPr>
            <a:normAutofit/>
          </a:bodyPr>
          <a:lstStyle>
            <a:defPPr algn="ctr">
              <a:defRPr sz="1500" b="1">
                <a:solidFill>
                  <a:srgbClr val="0B3454"/>
                </a:solidFill>
                <a:latin typeface="Arial"/>
                <a:ea typeface="Arial"/>
                <a:cs typeface="Arial"/>
              </a:defRPr>
            </a:defPPr>
          </a:lstStyle>
          <a:p>
            <a:pPr algn="ctr">
              <a:defRPr sz="1500" b="1">
                <a:solidFill>
                  <a:srgbClr val="0B3454"/>
                </a:solidFill>
                <a:latin typeface="Arial"/>
                <a:ea typeface="Arial"/>
                <a:cs typeface="Arial"/>
              </a:defRPr>
            </a:pPr>
            <a:r>
              <a:rPr sz="1500" b="1">
                <a:solidFill>
                  <a:srgbClr val="0B3454"/>
                </a:solidFill>
                <a:latin typeface="Arial"/>
                <a:ea typeface="Arial"/>
                <a:cs typeface="Arial"/>
              </a:rPr>
              <a:t>Exfiltration</a:t>
            </a:r>
          </a:p>
        </p:txBody>
      </p:sp>
      <p:sp>
        <p:nvSpPr>
          <p:cNvPr id="24" name="Rectangle 23">
            <a:extLst>
              <a:ext uri="{FF2B5EF4-FFF2-40B4-BE49-F238E27FC236}">
                <a16:creationId xmlns:a16="http://schemas.microsoft.com/office/drawing/2014/main" id="{48658C6D-07BF-453D-8384-BC3269026DBC}"/>
              </a:ext>
            </a:extLst>
          </p:cNvPr>
          <p:cNvSpPr>
            <a:spLocks noGrp="1"/>
          </p:cNvSpPr>
          <p:nvPr/>
        </p:nvSpPr>
        <p:spPr>
          <a:xfrm>
            <a:off x="9848850" y="3790950"/>
            <a:ext cx="1857375" cy="742950"/>
          </a:xfrm>
          <a:prstGeom prst="rect">
            <a:avLst/>
          </a:prstGeom>
          <a:noFill/>
          <a:ln w="0">
            <a:noFill/>
            <a:prstDash val="solid"/>
          </a:ln>
        </p:spPr>
        <p:txBody>
          <a:bodyPr>
            <a:normAutofit/>
          </a:bodyPr>
          <a:lstStyle>
            <a:defPPr algn="ctr">
              <a:defRPr sz="1200" b="0">
                <a:solidFill>
                  <a:srgbClr val="566275"/>
                </a:solidFill>
                <a:latin typeface="Arial"/>
                <a:ea typeface="Arial"/>
                <a:cs typeface="Arial"/>
              </a:defRPr>
            </a:defPPr>
          </a:lstStyle>
          <a:p>
            <a:pPr algn="ctr">
              <a:defRPr sz="1200" b="0">
                <a:solidFill>
                  <a:srgbClr val="566275"/>
                </a:solidFill>
                <a:latin typeface="Arial"/>
                <a:ea typeface="Arial"/>
                <a:cs typeface="Arial"/>
              </a:defRPr>
            </a:pPr>
            <a:r>
              <a:rPr sz="1200" b="0">
                <a:solidFill>
                  <a:srgbClr val="566275"/>
                </a:solidFill>
                <a:latin typeface="Arial"/>
                <a:ea typeface="Arial"/>
                <a:cs typeface="Arial"/>
              </a:rPr>
              <a:t>ZIP download returned</a:t>
            </a:r>
          </a:p>
          <a:p>
            <a:pPr algn="ctr">
              <a:defRPr sz="1200" b="0">
                <a:solidFill>
                  <a:srgbClr val="566275"/>
                </a:solidFill>
                <a:latin typeface="Arial"/>
                <a:ea typeface="Arial"/>
                <a:cs typeface="Arial"/>
              </a:defRPr>
            </a:pPr>
            <a:r>
              <a:rPr sz="1200" b="0">
                <a:solidFill>
                  <a:srgbClr val="566275"/>
                </a:solidFill>
                <a:latin typeface="Arial"/>
                <a:ea typeface="Arial"/>
                <a:cs typeface="Arial"/>
              </a:rPr>
              <a:t>HTTP status 200</a:t>
            </a:r>
          </a:p>
        </p:txBody>
      </p:sp>
      <p:sp>
        <p:nvSpPr>
          <p:cNvPr id="25" name="Rounded Rectangle 24">
            <a:extLst>
              <a:ext uri="{FF2B5EF4-FFF2-40B4-BE49-F238E27FC236}">
                <a16:creationId xmlns:a16="http://schemas.microsoft.com/office/drawing/2014/main" id="{D073DBF0-6AED-4CB1-BC1C-DC778AB81124}"/>
              </a:ext>
            </a:extLst>
          </p:cNvPr>
          <p:cNvSpPr>
            <a:spLocks noGrp="1"/>
          </p:cNvSpPr>
          <p:nvPr/>
        </p:nvSpPr>
        <p:spPr>
          <a:xfrm>
            <a:off x="1562100" y="5181600"/>
            <a:ext cx="9048750" cy="704850"/>
          </a:xfrm>
          <a:prstGeom prst="roundRect">
            <a:avLst>
              <a:gd name="adj" fmla="val 10811"/>
            </a:avLst>
          </a:prstGeom>
          <a:solidFill>
            <a:srgbClr val="DFF3FB"/>
          </a:solidFill>
          <a:ln w="9525">
            <a:solidFill>
              <a:srgbClr val="DFF3FB"/>
            </a:solidFill>
            <a:prstDash val="solid"/>
          </a:ln>
        </p:spPr>
        <p:txBody>
          <a:bodyPr/>
          <a:lstStyle/>
          <a:p>
            <a:endParaRPr lang="en-US"/>
          </a:p>
        </p:txBody>
      </p:sp>
      <p:sp>
        <p:nvSpPr>
          <p:cNvPr id="26" name="Rectangle 25">
            <a:extLst>
              <a:ext uri="{FF2B5EF4-FFF2-40B4-BE49-F238E27FC236}">
                <a16:creationId xmlns:a16="http://schemas.microsoft.com/office/drawing/2014/main" id="{87558AFB-DA94-44E8-996E-9438E84A5C71}"/>
              </a:ext>
            </a:extLst>
          </p:cNvPr>
          <p:cNvSpPr>
            <a:spLocks noGrp="1"/>
          </p:cNvSpPr>
          <p:nvPr/>
        </p:nvSpPr>
        <p:spPr>
          <a:xfrm>
            <a:off x="1866900" y="5372100"/>
            <a:ext cx="8458200" cy="342900"/>
          </a:xfrm>
          <a:prstGeom prst="rect">
            <a:avLst/>
          </a:prstGeom>
          <a:noFill/>
          <a:ln w="0">
            <a:noFill/>
            <a:prstDash val="solid"/>
          </a:ln>
        </p:spPr>
        <p:txBody>
          <a:bodyPr>
            <a:normAutofit fontScale="79747"/>
          </a:bodyPr>
          <a:lstStyle>
            <a:defPPr algn="ctr">
              <a:defRPr sz="1500" b="1">
                <a:solidFill>
                  <a:srgbClr val="0B3454"/>
                </a:solidFill>
                <a:latin typeface="Arial"/>
                <a:ea typeface="Arial"/>
                <a:cs typeface="Arial"/>
              </a:defRPr>
            </a:defPPr>
          </a:lstStyle>
          <a:p>
            <a:pPr algn="ctr">
              <a:defRPr sz="1500" b="1">
                <a:solidFill>
                  <a:srgbClr val="0B3454"/>
                </a:solidFill>
                <a:latin typeface="Arial"/>
                <a:ea typeface="Arial"/>
                <a:cs typeface="Arial"/>
              </a:defRPr>
            </a:pPr>
            <a:r>
              <a:rPr sz="1500" b="1">
                <a:solidFill>
                  <a:srgbClr val="0B3454"/>
                </a:solidFill>
                <a:latin typeface="Arial"/>
                <a:ea typeface="Arial"/>
                <a:cs typeface="Arial"/>
              </a:rPr>
              <a:t>The sequence is supported by timestamps, source IPs, usernames, URLs, status codes and authentication results.</a:t>
            </a:r>
          </a:p>
        </p:txBody>
      </p:sp>
      <p:sp>
        <p:nvSpPr>
          <p:cNvPr id="27" name="Rectangle 26">
            <a:extLst>
              <a:ext uri="{FF2B5EF4-FFF2-40B4-BE49-F238E27FC236}">
                <a16:creationId xmlns:a16="http://schemas.microsoft.com/office/drawing/2014/main" id="{5748BCE1-0F81-48C6-9C35-0D9CFE378B60}"/>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7A8795"/>
                </a:solidFill>
                <a:latin typeface="Arial"/>
                <a:ea typeface="Arial"/>
                <a:cs typeface="Arial"/>
              </a:defRPr>
            </a:defPPr>
          </a:lstStyle>
          <a:p>
            <a:pPr algn="l">
              <a:defRPr sz="825" b="1">
                <a:solidFill>
                  <a:srgbClr val="7A8795"/>
                </a:solidFill>
                <a:latin typeface="Arial"/>
                <a:ea typeface="Arial"/>
                <a:cs typeface="Arial"/>
              </a:defRPr>
            </a:pPr>
            <a:r>
              <a:rPr sz="825" b="1">
                <a:solidFill>
                  <a:srgbClr val="7A8795"/>
                </a:solidFill>
                <a:latin typeface="Arial"/>
                <a:ea typeface="Arial"/>
                <a:cs typeface="Arial"/>
              </a:rPr>
              <a:t>ITECH1502  |  KC7 A Rap Beef</a:t>
            </a:r>
          </a:p>
        </p:txBody>
      </p:sp>
      <p:sp>
        <p:nvSpPr>
          <p:cNvPr id="28" name="Rectangle 27">
            <a:extLst>
              <a:ext uri="{FF2B5EF4-FFF2-40B4-BE49-F238E27FC236}">
                <a16:creationId xmlns:a16="http://schemas.microsoft.com/office/drawing/2014/main" id="{03C264D3-2BDA-4550-BB0A-66DDA1141BDC}"/>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0B3454"/>
                </a:solidFill>
                <a:latin typeface="Arial"/>
                <a:ea typeface="Arial"/>
                <a:cs typeface="Arial"/>
              </a:defRPr>
            </a:defPPr>
          </a:lstStyle>
          <a:p>
            <a:pPr algn="r">
              <a:defRPr sz="900" b="1">
                <a:solidFill>
                  <a:srgbClr val="0B3454"/>
                </a:solidFill>
                <a:latin typeface="Arial"/>
                <a:ea typeface="Arial"/>
                <a:cs typeface="Arial"/>
              </a:defRPr>
            </a:pPr>
            <a:r>
              <a:rPr sz="900" b="1">
                <a:solidFill>
                  <a:srgbClr val="0B3454"/>
                </a:solidFill>
                <a:latin typeface="Arial"/>
                <a:ea typeface="Arial"/>
                <a:cs typeface="Arial"/>
              </a:rPr>
              <a:t>04</a:t>
            </a:r>
          </a:p>
        </p:txBody>
      </p:sp>
    </p:spTree>
    <p:extLst>
      <p:ext uri="{BB962C8B-B14F-4D97-AF65-F5344CB8AC3E}">
        <p14:creationId xmlns:p14="http://schemas.microsoft.com/office/powerpoint/2010/main" val="28880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507CAC-5FF2-49C2-A563-FE4454754131}"/>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152033"/>
                </a:solidFill>
                <a:latin typeface="Arial"/>
                <a:ea typeface="Arial"/>
                <a:cs typeface="Arial"/>
              </a:defRPr>
            </a:defPPr>
          </a:lstStyle>
          <a:p>
            <a:pPr algn="l">
              <a:defRPr sz="2550" b="1">
                <a:solidFill>
                  <a:srgbClr val="152033"/>
                </a:solidFill>
                <a:latin typeface="Arial"/>
                <a:ea typeface="Arial"/>
                <a:cs typeface="Arial"/>
              </a:defRPr>
            </a:pPr>
            <a:r>
              <a:rPr sz="2550" b="1">
                <a:solidFill>
                  <a:srgbClr val="152033"/>
                </a:solidFill>
                <a:latin typeface="Arial"/>
                <a:ea typeface="Arial"/>
                <a:cs typeface="Arial"/>
              </a:rPr>
              <a:t>The phishing message reached Dwake</a:t>
            </a:r>
          </a:p>
        </p:txBody>
      </p:sp>
      <p:sp>
        <p:nvSpPr>
          <p:cNvPr id="2" name="Rectangle 1">
            <a:extLst>
              <a:ext uri="{FF2B5EF4-FFF2-40B4-BE49-F238E27FC236}">
                <a16:creationId xmlns:a16="http://schemas.microsoft.com/office/drawing/2014/main" id="{83F1979B-9300-4F01-88DA-8DF3E9CAED7C}"/>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566275"/>
                </a:solidFill>
                <a:latin typeface="Arial"/>
                <a:ea typeface="Arial"/>
                <a:cs typeface="Arial"/>
              </a:defRPr>
            </a:defPPr>
          </a:lstStyle>
          <a:p>
            <a:pPr algn="l">
              <a:defRPr sz="1350" b="0">
                <a:solidFill>
                  <a:srgbClr val="566275"/>
                </a:solidFill>
                <a:latin typeface="Arial"/>
                <a:ea typeface="Arial"/>
                <a:cs typeface="Arial"/>
              </a:defRPr>
            </a:pPr>
            <a:r>
              <a:rPr sz="1350" b="0">
                <a:solidFill>
                  <a:srgbClr val="566275"/>
                </a:solidFill>
                <a:latin typeface="Arial"/>
                <a:ea typeface="Arial"/>
                <a:cs typeface="Arial"/>
              </a:rPr>
              <a:t>A targeted ghostwriter offer passed the email control and led to a credential-harvesting page</a:t>
            </a:r>
          </a:p>
        </p:txBody>
      </p:sp>
      <p:sp>
        <p:nvSpPr>
          <p:cNvPr id="3" name="Rectangle 2">
            <a:extLst>
              <a:ext uri="{FF2B5EF4-FFF2-40B4-BE49-F238E27FC236}">
                <a16:creationId xmlns:a16="http://schemas.microsoft.com/office/drawing/2014/main" id="{3B382223-7CEF-4A21-B856-3A9CE30161C2}"/>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pic>
        <p:nvPicPr>
          <p:cNvPr id="4" name="Picture 3">
            <a:extLst>
              <a:ext uri="{FF2B5EF4-FFF2-40B4-BE49-F238E27FC236}">
                <a16:creationId xmlns:a16="http://schemas.microsoft.com/office/drawing/2014/main" id="{67CF5F61-B07B-46DA-B07D-D6E3D4E36575}"/>
              </a:ext>
            </a:extLst>
          </p:cNvPr>
          <p:cNvPicPr>
            <a:picLocks noChangeAspect="1"/>
          </p:cNvPicPr>
          <p:nvPr/>
        </p:nvPicPr>
        <p:blipFill>
          <a:blip r:embed="rId3"/>
          <a:stretch/>
        </p:blipFill>
        <p:spPr>
          <a:xfrm>
            <a:off x="1477412" y="1428750"/>
            <a:ext cx="9237176" cy="4514850"/>
          </a:xfrm>
          <a:prstGeom prst="rect">
            <a:avLst/>
          </a:prstGeom>
        </p:spPr>
      </p:pic>
      <p:sp>
        <p:nvSpPr>
          <p:cNvPr id="5" name="Rounded Rectangle 4">
            <a:extLst>
              <a:ext uri="{FF2B5EF4-FFF2-40B4-BE49-F238E27FC236}">
                <a16:creationId xmlns:a16="http://schemas.microsoft.com/office/drawing/2014/main" id="{A16CF8CC-6F2D-4B6F-9ED5-E4D9CF10AC09}"/>
              </a:ext>
            </a:extLst>
          </p:cNvPr>
          <p:cNvSpPr>
            <a:spLocks noGrp="1"/>
          </p:cNvSpPr>
          <p:nvPr/>
        </p:nvSpPr>
        <p:spPr>
          <a:xfrm>
            <a:off x="838200" y="5905500"/>
            <a:ext cx="10515600" cy="457200"/>
          </a:xfrm>
          <a:prstGeom prst="roundRect">
            <a:avLst>
              <a:gd name="adj" fmla="val 16667"/>
            </a:avLst>
          </a:prstGeom>
          <a:solidFill>
            <a:srgbClr val="061B2F"/>
          </a:solidFill>
          <a:ln w="9525">
            <a:solidFill>
              <a:srgbClr val="061B2F"/>
            </a:solidFill>
            <a:prstDash val="solid"/>
          </a:ln>
        </p:spPr>
        <p:txBody>
          <a:bodyPr/>
          <a:lstStyle/>
          <a:p>
            <a:endParaRPr lang="en-US"/>
          </a:p>
        </p:txBody>
      </p:sp>
      <p:sp>
        <p:nvSpPr>
          <p:cNvPr id="6" name="Rectangle 5">
            <a:extLst>
              <a:ext uri="{FF2B5EF4-FFF2-40B4-BE49-F238E27FC236}">
                <a16:creationId xmlns:a16="http://schemas.microsoft.com/office/drawing/2014/main" id="{AC920060-423D-47F1-AA9B-283BABEA8181}"/>
              </a:ext>
            </a:extLst>
          </p:cNvPr>
          <p:cNvSpPr>
            <a:spLocks noGrp="1"/>
          </p:cNvSpPr>
          <p:nvPr/>
        </p:nvSpPr>
        <p:spPr>
          <a:xfrm>
            <a:off x="1047750" y="6000750"/>
            <a:ext cx="10096500" cy="266700"/>
          </a:xfrm>
          <a:prstGeom prst="rect">
            <a:avLst/>
          </a:prstGeom>
          <a:noFill/>
          <a:ln w="0">
            <a:noFill/>
            <a:prstDash val="solid"/>
          </a:ln>
        </p:spPr>
        <p:txBody>
          <a:bodyPr>
            <a:normAutofit fontScale="95833"/>
          </a:bodyPr>
          <a:lstStyle>
            <a:defPPr algn="ctr">
              <a:defRPr sz="1200" b="1">
                <a:solidFill>
                  <a:srgbClr val="FFFFFF"/>
                </a:solidFill>
                <a:latin typeface="Arial"/>
                <a:ea typeface="Arial"/>
                <a:cs typeface="Arial"/>
              </a:defRPr>
            </a:defP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Evidence: sender ghostwritersanonymous@protonmail.com  |  verdict CLEAN  |  target dwake_audrey@owl-records.com</a:t>
            </a:r>
          </a:p>
        </p:txBody>
      </p:sp>
      <p:sp>
        <p:nvSpPr>
          <p:cNvPr id="7" name="Rectangle 6">
            <a:extLst>
              <a:ext uri="{FF2B5EF4-FFF2-40B4-BE49-F238E27FC236}">
                <a16:creationId xmlns:a16="http://schemas.microsoft.com/office/drawing/2014/main" id="{F7F4405D-2C42-431A-BA74-4AA39655499F}"/>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7A8795"/>
                </a:solidFill>
                <a:latin typeface="Arial"/>
                <a:ea typeface="Arial"/>
                <a:cs typeface="Arial"/>
              </a:defRPr>
            </a:defPPr>
          </a:lstStyle>
          <a:p>
            <a:pPr algn="l">
              <a:defRPr sz="825" b="1">
                <a:solidFill>
                  <a:srgbClr val="7A8795"/>
                </a:solidFill>
                <a:latin typeface="Arial"/>
                <a:ea typeface="Arial"/>
                <a:cs typeface="Arial"/>
              </a:defRPr>
            </a:pPr>
            <a:r>
              <a:rPr sz="825" b="1">
                <a:solidFill>
                  <a:srgbClr val="7A8795"/>
                </a:solidFill>
                <a:latin typeface="Arial"/>
                <a:ea typeface="Arial"/>
                <a:cs typeface="Arial"/>
              </a:rPr>
              <a:t>ITECH1502  |  KC7 A Rap Beef</a:t>
            </a:r>
          </a:p>
        </p:txBody>
      </p:sp>
      <p:sp>
        <p:nvSpPr>
          <p:cNvPr id="8" name="Rectangle 7">
            <a:extLst>
              <a:ext uri="{FF2B5EF4-FFF2-40B4-BE49-F238E27FC236}">
                <a16:creationId xmlns:a16="http://schemas.microsoft.com/office/drawing/2014/main" id="{B58258BF-7530-45AB-A5D1-EFB8A5A78179}"/>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0B3454"/>
                </a:solidFill>
                <a:latin typeface="Arial"/>
                <a:ea typeface="Arial"/>
                <a:cs typeface="Arial"/>
              </a:defRPr>
            </a:defPPr>
          </a:lstStyle>
          <a:p>
            <a:pPr algn="r">
              <a:defRPr sz="900" b="1">
                <a:solidFill>
                  <a:srgbClr val="0B3454"/>
                </a:solidFill>
                <a:latin typeface="Arial"/>
                <a:ea typeface="Arial"/>
                <a:cs typeface="Arial"/>
              </a:defRPr>
            </a:pPr>
            <a:r>
              <a:rPr sz="900" b="1">
                <a:solidFill>
                  <a:srgbClr val="0B3454"/>
                </a:solidFill>
                <a:latin typeface="Arial"/>
                <a:ea typeface="Arial"/>
                <a:cs typeface="Arial"/>
              </a:rPr>
              <a:t>05</a:t>
            </a:r>
          </a:p>
        </p:txBody>
      </p:sp>
    </p:spTree>
    <p:extLst>
      <p:ext uri="{BB962C8B-B14F-4D97-AF65-F5344CB8AC3E}">
        <p14:creationId xmlns:p14="http://schemas.microsoft.com/office/powerpoint/2010/main" val="440306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5E1FC-9614-4B09-8C5B-D25A8627616C}"/>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152033"/>
                </a:solidFill>
                <a:latin typeface="Arial"/>
                <a:ea typeface="Arial"/>
                <a:cs typeface="Arial"/>
              </a:defRPr>
            </a:defPPr>
          </a:lstStyle>
          <a:p>
            <a:pPr algn="l">
              <a:defRPr sz="2550" b="1">
                <a:solidFill>
                  <a:srgbClr val="152033"/>
                </a:solidFill>
                <a:latin typeface="Arial"/>
                <a:ea typeface="Arial"/>
                <a:cs typeface="Arial"/>
              </a:defRPr>
            </a:pPr>
            <a:r>
              <a:rPr sz="2550" b="1">
                <a:solidFill>
                  <a:srgbClr val="152033"/>
                </a:solidFill>
                <a:latin typeface="Arial"/>
                <a:ea typeface="Arial"/>
                <a:cs typeface="Arial"/>
              </a:rPr>
              <a:t>Authentication logs confirmed compromise</a:t>
            </a:r>
          </a:p>
        </p:txBody>
      </p:sp>
      <p:sp>
        <p:nvSpPr>
          <p:cNvPr id="2" name="Rectangle 1">
            <a:extLst>
              <a:ext uri="{FF2B5EF4-FFF2-40B4-BE49-F238E27FC236}">
                <a16:creationId xmlns:a16="http://schemas.microsoft.com/office/drawing/2014/main" id="{C108A9D0-681F-4263-A58E-7D3E17CEDEE8}"/>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566275"/>
                </a:solidFill>
                <a:latin typeface="Arial"/>
                <a:ea typeface="Arial"/>
                <a:cs typeface="Arial"/>
              </a:defRPr>
            </a:defPPr>
          </a:lstStyle>
          <a:p>
            <a:pPr algn="l">
              <a:defRPr sz="1350" b="0">
                <a:solidFill>
                  <a:srgbClr val="566275"/>
                </a:solidFill>
                <a:latin typeface="Arial"/>
                <a:ea typeface="Arial"/>
                <a:cs typeface="Arial"/>
              </a:defRPr>
            </a:pPr>
            <a:r>
              <a:rPr sz="1350" b="0">
                <a:solidFill>
                  <a:srgbClr val="566275"/>
                </a:solidFill>
                <a:latin typeface="Arial"/>
                <a:ea typeface="Arial"/>
                <a:cs typeface="Arial"/>
              </a:rPr>
              <a:t>The reset attempt became a confirmed incident when the stolen credentials produced a successful login</a:t>
            </a:r>
          </a:p>
        </p:txBody>
      </p:sp>
      <p:sp>
        <p:nvSpPr>
          <p:cNvPr id="3" name="Rectangle 2">
            <a:extLst>
              <a:ext uri="{FF2B5EF4-FFF2-40B4-BE49-F238E27FC236}">
                <a16:creationId xmlns:a16="http://schemas.microsoft.com/office/drawing/2014/main" id="{0FA88823-0FA7-499C-95F8-7985132E7D49}"/>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sp>
        <p:nvSpPr>
          <p:cNvPr id="4" name="Rounded Rectangle 3">
            <a:extLst>
              <a:ext uri="{FF2B5EF4-FFF2-40B4-BE49-F238E27FC236}">
                <a16:creationId xmlns:a16="http://schemas.microsoft.com/office/drawing/2014/main" id="{A3534413-A294-4532-8031-16AAA0B1CED8}"/>
              </a:ext>
            </a:extLst>
          </p:cNvPr>
          <p:cNvSpPr>
            <a:spLocks noGrp="1"/>
          </p:cNvSpPr>
          <p:nvPr/>
        </p:nvSpPr>
        <p:spPr>
          <a:xfrm>
            <a:off x="571500" y="1543050"/>
            <a:ext cx="11049000" cy="4000500"/>
          </a:xfrm>
          <a:prstGeom prst="roundRect">
            <a:avLst>
              <a:gd name="adj" fmla="val 1905"/>
            </a:avLst>
          </a:prstGeom>
          <a:solidFill>
            <a:srgbClr val="FFFFFF"/>
          </a:solidFill>
          <a:ln w="9525">
            <a:solidFill>
              <a:srgbClr val="CBD6E1"/>
            </a:solidFill>
            <a:prstDash val="solid"/>
          </a:ln>
        </p:spPr>
        <p:txBody>
          <a:bodyPr/>
          <a:lstStyle/>
          <a:p>
            <a:endParaRPr lang="en-US"/>
          </a:p>
        </p:txBody>
      </p:sp>
      <p:pic>
        <p:nvPicPr>
          <p:cNvPr id="5" name="Picture 4">
            <a:extLst>
              <a:ext uri="{FF2B5EF4-FFF2-40B4-BE49-F238E27FC236}">
                <a16:creationId xmlns:a16="http://schemas.microsoft.com/office/drawing/2014/main" id="{A7D0B262-52F8-43C6-B06C-FAF6C3D9A719}"/>
              </a:ext>
            </a:extLst>
          </p:cNvPr>
          <p:cNvPicPr>
            <a:picLocks noChangeAspect="1"/>
          </p:cNvPicPr>
          <p:nvPr/>
        </p:nvPicPr>
        <p:blipFill>
          <a:blip r:embed="rId3"/>
          <a:stretch/>
        </p:blipFill>
        <p:spPr>
          <a:xfrm>
            <a:off x="979357" y="1714500"/>
            <a:ext cx="10233285" cy="3657600"/>
          </a:xfrm>
          <a:prstGeom prst="rect">
            <a:avLst/>
          </a:prstGeom>
        </p:spPr>
      </p:pic>
      <p:sp>
        <p:nvSpPr>
          <p:cNvPr id="6" name="Rounded Rectangle 5">
            <a:extLst>
              <a:ext uri="{FF2B5EF4-FFF2-40B4-BE49-F238E27FC236}">
                <a16:creationId xmlns:a16="http://schemas.microsoft.com/office/drawing/2014/main" id="{3A6F3AD9-0D26-457B-8396-A1E5F5881D1C}"/>
              </a:ext>
            </a:extLst>
          </p:cNvPr>
          <p:cNvSpPr>
            <a:spLocks noGrp="1"/>
          </p:cNvSpPr>
          <p:nvPr/>
        </p:nvSpPr>
        <p:spPr>
          <a:xfrm>
            <a:off x="1752600" y="5791200"/>
            <a:ext cx="8686800" cy="514350"/>
          </a:xfrm>
          <a:prstGeom prst="roundRect">
            <a:avLst>
              <a:gd name="adj" fmla="val 14815"/>
            </a:avLst>
          </a:prstGeom>
          <a:solidFill>
            <a:srgbClr val="FFF0E7"/>
          </a:solidFill>
          <a:ln w="9525">
            <a:solidFill>
              <a:srgbClr val="FFF0E7"/>
            </a:solidFill>
            <a:prstDash val="solid"/>
          </a:ln>
        </p:spPr>
        <p:txBody>
          <a:bodyPr/>
          <a:lstStyle/>
          <a:p>
            <a:endParaRPr lang="en-US"/>
          </a:p>
        </p:txBody>
      </p:sp>
      <p:sp>
        <p:nvSpPr>
          <p:cNvPr id="7" name="Rectangle 6">
            <a:extLst>
              <a:ext uri="{FF2B5EF4-FFF2-40B4-BE49-F238E27FC236}">
                <a16:creationId xmlns:a16="http://schemas.microsoft.com/office/drawing/2014/main" id="{E7C0D3AA-4064-49CE-B53D-45C4D9CE115D}"/>
              </a:ext>
            </a:extLst>
          </p:cNvPr>
          <p:cNvSpPr>
            <a:spLocks noGrp="1"/>
          </p:cNvSpPr>
          <p:nvPr/>
        </p:nvSpPr>
        <p:spPr>
          <a:xfrm>
            <a:off x="1943100" y="5915025"/>
            <a:ext cx="8305800" cy="266700"/>
          </a:xfrm>
          <a:prstGeom prst="rect">
            <a:avLst/>
          </a:prstGeom>
          <a:noFill/>
          <a:ln w="0">
            <a:noFill/>
            <a:prstDash val="solid"/>
          </a:ln>
        </p:spPr>
        <p:txBody>
          <a:bodyPr>
            <a:normAutofit fontScale="85185"/>
          </a:bodyPr>
          <a:lstStyle>
            <a:defPPr algn="ctr">
              <a:defRPr sz="1350" b="1">
                <a:solidFill>
                  <a:srgbClr val="0B3454"/>
                </a:solidFill>
                <a:latin typeface="Arial"/>
                <a:ea typeface="Arial"/>
                <a:cs typeface="Arial"/>
              </a:defRPr>
            </a:defPPr>
          </a:lstStyle>
          <a:p>
            <a:pPr algn="ctr">
              <a:defRPr sz="1350" b="1">
                <a:solidFill>
                  <a:srgbClr val="0B3454"/>
                </a:solidFill>
                <a:latin typeface="Arial"/>
                <a:ea typeface="Arial"/>
                <a:cs typeface="Arial"/>
              </a:defRPr>
            </a:pPr>
            <a:r>
              <a:rPr sz="1350" b="1">
                <a:solidFill>
                  <a:srgbClr val="0B3454"/>
                </a:solidFill>
                <a:latin typeface="Arial"/>
                <a:ea typeface="Arial"/>
                <a:cs typeface="Arial"/>
              </a:rPr>
              <a:t>15 April 2024, 13:03:12 UTC  |  username dwaudrey  |  source 18.66.52.227  |  Successful Login</a:t>
            </a:r>
          </a:p>
        </p:txBody>
      </p:sp>
      <p:sp>
        <p:nvSpPr>
          <p:cNvPr id="8" name="Rectangle 7">
            <a:extLst>
              <a:ext uri="{FF2B5EF4-FFF2-40B4-BE49-F238E27FC236}">
                <a16:creationId xmlns:a16="http://schemas.microsoft.com/office/drawing/2014/main" id="{92D56537-9797-446E-B348-9B559D09238B}"/>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7A8795"/>
                </a:solidFill>
                <a:latin typeface="Arial"/>
                <a:ea typeface="Arial"/>
                <a:cs typeface="Arial"/>
              </a:defRPr>
            </a:defPPr>
          </a:lstStyle>
          <a:p>
            <a:pPr algn="l">
              <a:defRPr sz="825" b="1">
                <a:solidFill>
                  <a:srgbClr val="7A8795"/>
                </a:solidFill>
                <a:latin typeface="Arial"/>
                <a:ea typeface="Arial"/>
                <a:cs typeface="Arial"/>
              </a:defRPr>
            </a:pPr>
            <a:r>
              <a:rPr sz="825" b="1">
                <a:solidFill>
                  <a:srgbClr val="7A8795"/>
                </a:solidFill>
                <a:latin typeface="Arial"/>
                <a:ea typeface="Arial"/>
                <a:cs typeface="Arial"/>
              </a:rPr>
              <a:t>ITECH1502  |  KC7 A Rap Beef</a:t>
            </a:r>
          </a:p>
        </p:txBody>
      </p:sp>
      <p:sp>
        <p:nvSpPr>
          <p:cNvPr id="9" name="Rectangle 8">
            <a:extLst>
              <a:ext uri="{FF2B5EF4-FFF2-40B4-BE49-F238E27FC236}">
                <a16:creationId xmlns:a16="http://schemas.microsoft.com/office/drawing/2014/main" id="{CE16FBED-8234-41E8-9861-48F4D9660C00}"/>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0B3454"/>
                </a:solidFill>
                <a:latin typeface="Arial"/>
                <a:ea typeface="Arial"/>
                <a:cs typeface="Arial"/>
              </a:defRPr>
            </a:defPPr>
          </a:lstStyle>
          <a:p>
            <a:pPr algn="r">
              <a:defRPr sz="900" b="1">
                <a:solidFill>
                  <a:srgbClr val="0B3454"/>
                </a:solidFill>
                <a:latin typeface="Arial"/>
                <a:ea typeface="Arial"/>
                <a:cs typeface="Arial"/>
              </a:defRPr>
            </a:pPr>
            <a:r>
              <a:rPr sz="900" b="1">
                <a:solidFill>
                  <a:srgbClr val="0B3454"/>
                </a:solidFill>
                <a:latin typeface="Arial"/>
                <a:ea typeface="Arial"/>
                <a:cs typeface="Arial"/>
              </a:rPr>
              <a:t>06</a:t>
            </a:r>
          </a:p>
        </p:txBody>
      </p:sp>
    </p:spTree>
    <p:extLst>
      <p:ext uri="{BB962C8B-B14F-4D97-AF65-F5344CB8AC3E}">
        <p14:creationId xmlns:p14="http://schemas.microsoft.com/office/powerpoint/2010/main" val="804246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2EB424-19B5-4222-BE41-97BF1EE17A1B}"/>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152033"/>
                </a:solidFill>
                <a:latin typeface="Arial"/>
                <a:ea typeface="Arial"/>
                <a:cs typeface="Arial"/>
              </a:defRPr>
            </a:defPPr>
          </a:lstStyle>
          <a:p>
            <a:pPr algn="l">
              <a:defRPr sz="2550" b="1">
                <a:solidFill>
                  <a:srgbClr val="152033"/>
                </a:solidFill>
                <a:latin typeface="Arial"/>
                <a:ea typeface="Arial"/>
                <a:cs typeface="Arial"/>
              </a:defRPr>
            </a:pPr>
            <a:r>
              <a:rPr sz="2550" b="1">
                <a:solidFill>
                  <a:srgbClr val="152033"/>
                </a:solidFill>
                <a:latin typeface="Arial"/>
                <a:ea typeface="Arial"/>
                <a:cs typeface="Arial"/>
              </a:rPr>
              <a:t>The intruder accessed and downloaded sensitive data</a:t>
            </a:r>
          </a:p>
        </p:txBody>
      </p:sp>
      <p:sp>
        <p:nvSpPr>
          <p:cNvPr id="2" name="Rectangle 1">
            <a:extLst>
              <a:ext uri="{FF2B5EF4-FFF2-40B4-BE49-F238E27FC236}">
                <a16:creationId xmlns:a16="http://schemas.microsoft.com/office/drawing/2014/main" id="{56F52216-F0C0-49DE-895D-14A342E3779E}"/>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566275"/>
                </a:solidFill>
                <a:latin typeface="Arial"/>
                <a:ea typeface="Arial"/>
                <a:cs typeface="Arial"/>
              </a:defRPr>
            </a:defPPr>
          </a:lstStyle>
          <a:p>
            <a:pPr algn="l">
              <a:defRPr sz="1350" b="0">
                <a:solidFill>
                  <a:srgbClr val="566275"/>
                </a:solidFill>
                <a:latin typeface="Arial"/>
                <a:ea typeface="Arial"/>
                <a:cs typeface="Arial"/>
              </a:defRPr>
            </a:pPr>
            <a:r>
              <a:rPr sz="1350" b="0">
                <a:solidFill>
                  <a:srgbClr val="566275"/>
                </a:solidFill>
                <a:latin typeface="Arial"/>
                <a:ea typeface="Arial"/>
                <a:cs typeface="Arial"/>
              </a:rPr>
              <a:t>Post-compromise activity culminated in a successful ZIP download from Dwake's mailbox</a:t>
            </a:r>
          </a:p>
        </p:txBody>
      </p:sp>
      <p:sp>
        <p:nvSpPr>
          <p:cNvPr id="3" name="Rectangle 2">
            <a:extLst>
              <a:ext uri="{FF2B5EF4-FFF2-40B4-BE49-F238E27FC236}">
                <a16:creationId xmlns:a16="http://schemas.microsoft.com/office/drawing/2014/main" id="{93DDF266-621B-46E5-81FF-24462D4AF7F6}"/>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pic>
        <p:nvPicPr>
          <p:cNvPr id="4" name="Picture 3">
            <a:extLst>
              <a:ext uri="{FF2B5EF4-FFF2-40B4-BE49-F238E27FC236}">
                <a16:creationId xmlns:a16="http://schemas.microsoft.com/office/drawing/2014/main" id="{CC88C6C7-C926-4BB6-A31D-C6AA5396A132}"/>
              </a:ext>
            </a:extLst>
          </p:cNvPr>
          <p:cNvPicPr>
            <a:picLocks noChangeAspect="1"/>
          </p:cNvPicPr>
          <p:nvPr/>
        </p:nvPicPr>
        <p:blipFill>
          <a:blip r:embed="rId3"/>
          <a:stretch/>
        </p:blipFill>
        <p:spPr>
          <a:xfrm>
            <a:off x="571500" y="1511145"/>
            <a:ext cx="11049000" cy="4159560"/>
          </a:xfrm>
          <a:prstGeom prst="rect">
            <a:avLst/>
          </a:prstGeom>
        </p:spPr>
      </p:pic>
      <p:sp>
        <p:nvSpPr>
          <p:cNvPr id="5" name="Rounded Rectangle 4">
            <a:extLst>
              <a:ext uri="{FF2B5EF4-FFF2-40B4-BE49-F238E27FC236}">
                <a16:creationId xmlns:a16="http://schemas.microsoft.com/office/drawing/2014/main" id="{725A357A-B5EF-4242-9165-2E1367A092DA}"/>
              </a:ext>
            </a:extLst>
          </p:cNvPr>
          <p:cNvSpPr>
            <a:spLocks noGrp="1"/>
          </p:cNvSpPr>
          <p:nvPr/>
        </p:nvSpPr>
        <p:spPr>
          <a:xfrm>
            <a:off x="1333500" y="5810250"/>
            <a:ext cx="9525000" cy="552450"/>
          </a:xfrm>
          <a:prstGeom prst="roundRect">
            <a:avLst>
              <a:gd name="adj" fmla="val 13793"/>
            </a:avLst>
          </a:prstGeom>
          <a:solidFill>
            <a:srgbClr val="061B2F"/>
          </a:solidFill>
          <a:ln w="9525">
            <a:solidFill>
              <a:srgbClr val="061B2F"/>
            </a:solidFill>
            <a:prstDash val="solid"/>
          </a:ln>
        </p:spPr>
        <p:txBody>
          <a:bodyPr/>
          <a:lstStyle/>
          <a:p>
            <a:endParaRPr lang="en-US"/>
          </a:p>
        </p:txBody>
      </p:sp>
      <p:sp>
        <p:nvSpPr>
          <p:cNvPr id="6" name="Rectangle 5">
            <a:extLst>
              <a:ext uri="{FF2B5EF4-FFF2-40B4-BE49-F238E27FC236}">
                <a16:creationId xmlns:a16="http://schemas.microsoft.com/office/drawing/2014/main" id="{4B8F207A-ACB4-4C68-BF73-2D147B35B572}"/>
              </a:ext>
            </a:extLst>
          </p:cNvPr>
          <p:cNvSpPr>
            <a:spLocks noGrp="1"/>
          </p:cNvSpPr>
          <p:nvPr/>
        </p:nvSpPr>
        <p:spPr>
          <a:xfrm>
            <a:off x="1581150" y="5943600"/>
            <a:ext cx="9029700" cy="285750"/>
          </a:xfrm>
          <a:prstGeom prst="rect">
            <a:avLst/>
          </a:prstGeom>
          <a:noFill/>
          <a:ln w="0">
            <a:noFill/>
            <a:prstDash val="solid"/>
          </a:ln>
        </p:spPr>
        <p:txBody>
          <a:bodyPr>
            <a:normAutofit fontScale="77273"/>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Outcome: 10 account-related results  |  DwakesDirtySecrets.zip  |  HTTP 200</a:t>
            </a:r>
          </a:p>
        </p:txBody>
      </p:sp>
      <p:sp>
        <p:nvSpPr>
          <p:cNvPr id="7" name="Rectangle 6">
            <a:extLst>
              <a:ext uri="{FF2B5EF4-FFF2-40B4-BE49-F238E27FC236}">
                <a16:creationId xmlns:a16="http://schemas.microsoft.com/office/drawing/2014/main" id="{74295326-5D0D-459C-BB32-7424AD0C16A8}"/>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7A8795"/>
                </a:solidFill>
                <a:latin typeface="Arial"/>
                <a:ea typeface="Arial"/>
                <a:cs typeface="Arial"/>
              </a:defRPr>
            </a:defPPr>
          </a:lstStyle>
          <a:p>
            <a:pPr algn="l">
              <a:defRPr sz="825" b="1">
                <a:solidFill>
                  <a:srgbClr val="7A8795"/>
                </a:solidFill>
                <a:latin typeface="Arial"/>
                <a:ea typeface="Arial"/>
                <a:cs typeface="Arial"/>
              </a:defRPr>
            </a:pPr>
            <a:r>
              <a:rPr sz="825" b="1">
                <a:solidFill>
                  <a:srgbClr val="7A8795"/>
                </a:solidFill>
                <a:latin typeface="Arial"/>
                <a:ea typeface="Arial"/>
                <a:cs typeface="Arial"/>
              </a:rPr>
              <a:t>ITECH1502  |  KC7 A Rap Beef</a:t>
            </a:r>
          </a:p>
        </p:txBody>
      </p:sp>
      <p:sp>
        <p:nvSpPr>
          <p:cNvPr id="8" name="Rectangle 7">
            <a:extLst>
              <a:ext uri="{FF2B5EF4-FFF2-40B4-BE49-F238E27FC236}">
                <a16:creationId xmlns:a16="http://schemas.microsoft.com/office/drawing/2014/main" id="{E2E7DA27-B2BB-4236-8177-C115B3109EB3}"/>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0B3454"/>
                </a:solidFill>
                <a:latin typeface="Arial"/>
                <a:ea typeface="Arial"/>
                <a:cs typeface="Arial"/>
              </a:defRPr>
            </a:defPPr>
          </a:lstStyle>
          <a:p>
            <a:pPr algn="r">
              <a:defRPr sz="900" b="1">
                <a:solidFill>
                  <a:srgbClr val="0B3454"/>
                </a:solidFill>
                <a:latin typeface="Arial"/>
                <a:ea typeface="Arial"/>
                <a:cs typeface="Arial"/>
              </a:defRPr>
            </a:pPr>
            <a:r>
              <a:rPr sz="900" b="1">
                <a:solidFill>
                  <a:srgbClr val="0B3454"/>
                </a:solidFill>
                <a:latin typeface="Arial"/>
                <a:ea typeface="Arial"/>
                <a:cs typeface="Arial"/>
              </a:rPr>
              <a:t>07</a:t>
            </a:r>
          </a:p>
        </p:txBody>
      </p:sp>
    </p:spTree>
    <p:extLst>
      <p:ext uri="{BB962C8B-B14F-4D97-AF65-F5344CB8AC3E}">
        <p14:creationId xmlns:p14="http://schemas.microsoft.com/office/powerpoint/2010/main" val="618529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1B2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B4155654-AAB7-4AB0-9BF9-305F5D9B4B31}"/>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FFFFFF"/>
                </a:solidFill>
                <a:latin typeface="Arial"/>
                <a:ea typeface="Arial"/>
                <a:cs typeface="Arial"/>
              </a:defRPr>
            </a:defPPr>
          </a:lstStyle>
          <a:p>
            <a:pPr algn="l">
              <a:defRPr sz="2550" b="1">
                <a:solidFill>
                  <a:srgbClr val="FFFFFF"/>
                </a:solidFill>
                <a:latin typeface="Arial"/>
                <a:ea typeface="Arial"/>
                <a:cs typeface="Arial"/>
              </a:defRPr>
            </a:pPr>
            <a:r>
              <a:rPr sz="2550" b="1">
                <a:solidFill>
                  <a:srgbClr val="FFFFFF"/>
                </a:solidFill>
                <a:latin typeface="Arial"/>
                <a:ea typeface="Arial"/>
                <a:cs typeface="Arial"/>
              </a:rPr>
              <a:t>Course concepts and recommended controls</a:t>
            </a:r>
          </a:p>
        </p:txBody>
      </p:sp>
      <p:sp>
        <p:nvSpPr>
          <p:cNvPr id="2" name="Rectangle 1">
            <a:extLst>
              <a:ext uri="{FF2B5EF4-FFF2-40B4-BE49-F238E27FC236}">
                <a16:creationId xmlns:a16="http://schemas.microsoft.com/office/drawing/2014/main" id="{9E522AFD-035A-4B99-A872-4E418A80880C}"/>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B8D5E5"/>
                </a:solidFill>
                <a:latin typeface="Arial"/>
                <a:ea typeface="Arial"/>
                <a:cs typeface="Arial"/>
              </a:defRPr>
            </a:defPPr>
          </a:lstStyle>
          <a:p>
            <a:pPr algn="l">
              <a:defRPr sz="1350" b="0">
                <a:solidFill>
                  <a:srgbClr val="B8D5E5"/>
                </a:solidFill>
                <a:latin typeface="Arial"/>
                <a:ea typeface="Arial"/>
                <a:cs typeface="Arial"/>
              </a:defRPr>
            </a:pPr>
            <a:r>
              <a:rPr sz="1350" b="0">
                <a:solidFill>
                  <a:srgbClr val="B8D5E5"/>
                </a:solidFill>
                <a:latin typeface="Arial"/>
                <a:ea typeface="Arial"/>
                <a:cs typeface="Arial"/>
              </a:rPr>
              <a:t>The case combined human behaviour, weak identity controls and gaps in monitoring</a:t>
            </a:r>
          </a:p>
        </p:txBody>
      </p:sp>
      <p:sp>
        <p:nvSpPr>
          <p:cNvPr id="3" name="Rectangle 2">
            <a:extLst>
              <a:ext uri="{FF2B5EF4-FFF2-40B4-BE49-F238E27FC236}">
                <a16:creationId xmlns:a16="http://schemas.microsoft.com/office/drawing/2014/main" id="{B00887A0-64D9-43DF-A7E9-35A69314115A}"/>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sp>
        <p:nvSpPr>
          <p:cNvPr id="4" name="Rectangle 3">
            <a:extLst>
              <a:ext uri="{FF2B5EF4-FFF2-40B4-BE49-F238E27FC236}">
                <a16:creationId xmlns:a16="http://schemas.microsoft.com/office/drawing/2014/main" id="{514B68FB-1DF2-4147-B590-9379F630AF2F}"/>
              </a:ext>
            </a:extLst>
          </p:cNvPr>
          <p:cNvSpPr>
            <a:spLocks noGrp="1"/>
          </p:cNvSpPr>
          <p:nvPr/>
        </p:nvSpPr>
        <p:spPr>
          <a:xfrm>
            <a:off x="666750" y="1581150"/>
            <a:ext cx="4191000" cy="361950"/>
          </a:xfrm>
          <a:prstGeom prst="rect">
            <a:avLst/>
          </a:prstGeom>
          <a:noFill/>
          <a:ln w="0">
            <a:noFill/>
            <a:prstDash val="solid"/>
          </a:ln>
        </p:spPr>
        <p:txBody>
          <a:bodyPr>
            <a:normAutofit fontScale="94667"/>
          </a:bodyPr>
          <a:lstStyle>
            <a:defPPr algn="l">
              <a:defRPr sz="1875" b="1">
                <a:solidFill>
                  <a:srgbClr val="42BCEB"/>
                </a:solidFill>
                <a:latin typeface="Arial"/>
                <a:ea typeface="Arial"/>
                <a:cs typeface="Arial"/>
              </a:defRPr>
            </a:defPPr>
          </a:lstStyle>
          <a:p>
            <a:pPr algn="l">
              <a:defRPr sz="1875" b="1">
                <a:solidFill>
                  <a:srgbClr val="42BCEB"/>
                </a:solidFill>
                <a:latin typeface="Arial"/>
                <a:ea typeface="Arial"/>
                <a:cs typeface="Arial"/>
              </a:defRPr>
            </a:pPr>
            <a:r>
              <a:rPr sz="1875" b="1">
                <a:solidFill>
                  <a:srgbClr val="42BCEB"/>
                </a:solidFill>
                <a:latin typeface="Arial"/>
                <a:ea typeface="Arial"/>
                <a:cs typeface="Arial"/>
              </a:rPr>
              <a:t>Concepts demonstrated</a:t>
            </a:r>
          </a:p>
        </p:txBody>
      </p:sp>
      <p:sp>
        <p:nvSpPr>
          <p:cNvPr id="5" name="Rectangle 4">
            <a:extLst>
              <a:ext uri="{FF2B5EF4-FFF2-40B4-BE49-F238E27FC236}">
                <a16:creationId xmlns:a16="http://schemas.microsoft.com/office/drawing/2014/main" id="{FF7A74CF-B7BA-4126-9C6A-AA358644122E}"/>
              </a:ext>
            </a:extLst>
          </p:cNvPr>
          <p:cNvSpPr>
            <a:spLocks noGrp="1"/>
          </p:cNvSpPr>
          <p:nvPr/>
        </p:nvSpPr>
        <p:spPr>
          <a:xfrm>
            <a:off x="685800" y="2133600"/>
            <a:ext cx="76200" cy="609600"/>
          </a:xfrm>
          <a:prstGeom prst="rect">
            <a:avLst/>
          </a:prstGeom>
          <a:solidFill>
            <a:srgbClr val="42BCEB"/>
          </a:solidFill>
          <a:ln w="9525">
            <a:solidFill>
              <a:srgbClr val="42BCEB"/>
            </a:solidFill>
            <a:prstDash val="solid"/>
          </a:ln>
        </p:spPr>
        <p:txBody>
          <a:bodyPr/>
          <a:lstStyle/>
          <a:p>
            <a:endParaRPr lang="en-US"/>
          </a:p>
        </p:txBody>
      </p:sp>
      <p:sp>
        <p:nvSpPr>
          <p:cNvPr id="6" name="Rectangle 5">
            <a:extLst>
              <a:ext uri="{FF2B5EF4-FFF2-40B4-BE49-F238E27FC236}">
                <a16:creationId xmlns:a16="http://schemas.microsoft.com/office/drawing/2014/main" id="{7F29C95E-A1EE-4D31-B6B5-9E6D608B85FE}"/>
              </a:ext>
            </a:extLst>
          </p:cNvPr>
          <p:cNvSpPr>
            <a:spLocks noGrp="1"/>
          </p:cNvSpPr>
          <p:nvPr/>
        </p:nvSpPr>
        <p:spPr>
          <a:xfrm>
            <a:off x="933450" y="2095500"/>
            <a:ext cx="3429000" cy="285750"/>
          </a:xfrm>
          <a:prstGeom prst="rect">
            <a:avLst/>
          </a:prstGeom>
          <a:noFill/>
          <a:ln w="0">
            <a:noFill/>
            <a:prstDash val="solid"/>
          </a:ln>
        </p:spPr>
        <p:txBody>
          <a:bodyPr>
            <a:normAutofit fontScale="85000"/>
          </a:bodyPr>
          <a:lstStyle>
            <a:defPPr algn="l">
              <a:defRPr sz="1500" b="1">
                <a:solidFill>
                  <a:srgbClr val="FFFFFF"/>
                </a:solidFill>
                <a:latin typeface="Arial"/>
                <a:ea typeface="Arial"/>
                <a:cs typeface="Arial"/>
              </a:defRPr>
            </a:defPPr>
          </a:lstStyle>
          <a:p>
            <a:pPr algn="l">
              <a:defRPr sz="1500" b="1">
                <a:solidFill>
                  <a:srgbClr val="FFFFFF"/>
                </a:solidFill>
                <a:latin typeface="Arial"/>
                <a:ea typeface="Arial"/>
                <a:cs typeface="Arial"/>
              </a:defRPr>
            </a:pPr>
            <a:r>
              <a:rPr sz="1500" b="1">
                <a:solidFill>
                  <a:srgbClr val="FFFFFF"/>
                </a:solidFill>
                <a:latin typeface="Arial"/>
                <a:ea typeface="Arial"/>
                <a:cs typeface="Arial"/>
              </a:rPr>
              <a:t>Human factors</a:t>
            </a:r>
          </a:p>
        </p:txBody>
      </p:sp>
      <p:sp>
        <p:nvSpPr>
          <p:cNvPr id="7" name="Rectangle 6">
            <a:extLst>
              <a:ext uri="{FF2B5EF4-FFF2-40B4-BE49-F238E27FC236}">
                <a16:creationId xmlns:a16="http://schemas.microsoft.com/office/drawing/2014/main" id="{FA3DAAED-5819-44CE-8794-C714B2D39832}"/>
              </a:ext>
            </a:extLst>
          </p:cNvPr>
          <p:cNvSpPr>
            <a:spLocks noGrp="1"/>
          </p:cNvSpPr>
          <p:nvPr/>
        </p:nvSpPr>
        <p:spPr>
          <a:xfrm>
            <a:off x="933450" y="2400300"/>
            <a:ext cx="4000500" cy="514350"/>
          </a:xfrm>
          <a:prstGeom prst="rect">
            <a:avLst/>
          </a:prstGeom>
          <a:noFill/>
          <a:ln w="0">
            <a:noFill/>
            <a:prstDash val="solid"/>
          </a:ln>
        </p:spPr>
        <p:txBody>
          <a:bodyPr>
            <a:normAutofit/>
          </a:bodyPr>
          <a:lstStyle>
            <a:defPPr algn="l">
              <a:defRPr sz="1200" b="0">
                <a:solidFill>
                  <a:srgbClr val="B8D5E5"/>
                </a:solidFill>
                <a:latin typeface="Arial"/>
                <a:ea typeface="Arial"/>
                <a:cs typeface="Arial"/>
              </a:defRPr>
            </a:defPPr>
          </a:lstStyle>
          <a:p>
            <a:pPr algn="l">
              <a:defRPr sz="1200" b="0">
                <a:solidFill>
                  <a:srgbClr val="B8D5E5"/>
                </a:solidFill>
                <a:latin typeface="Arial"/>
                <a:ea typeface="Arial"/>
                <a:cs typeface="Arial"/>
              </a:defRPr>
            </a:pPr>
            <a:r>
              <a:rPr sz="1200" b="0">
                <a:solidFill>
                  <a:srgbClr val="B8D5E5"/>
                </a:solidFill>
                <a:latin typeface="Arial"/>
                <a:ea typeface="Arial"/>
                <a:cs typeface="Arial"/>
              </a:rPr>
              <a:t>A personalised lure and public information influenced the victim.</a:t>
            </a:r>
          </a:p>
        </p:txBody>
      </p:sp>
      <p:sp>
        <p:nvSpPr>
          <p:cNvPr id="8" name="Rectangle 7">
            <a:extLst>
              <a:ext uri="{FF2B5EF4-FFF2-40B4-BE49-F238E27FC236}">
                <a16:creationId xmlns:a16="http://schemas.microsoft.com/office/drawing/2014/main" id="{DCD15A4C-EF87-498A-B747-AA21E79C274C}"/>
              </a:ext>
            </a:extLst>
          </p:cNvPr>
          <p:cNvSpPr>
            <a:spLocks noGrp="1"/>
          </p:cNvSpPr>
          <p:nvPr/>
        </p:nvSpPr>
        <p:spPr>
          <a:xfrm>
            <a:off x="685800" y="3028950"/>
            <a:ext cx="76200" cy="609600"/>
          </a:xfrm>
          <a:prstGeom prst="rect">
            <a:avLst/>
          </a:prstGeom>
          <a:solidFill>
            <a:srgbClr val="42BCEB"/>
          </a:solidFill>
          <a:ln w="9525">
            <a:solidFill>
              <a:srgbClr val="42BCEB"/>
            </a:solidFill>
            <a:prstDash val="solid"/>
          </a:ln>
        </p:spPr>
        <p:txBody>
          <a:bodyPr/>
          <a:lstStyle/>
          <a:p>
            <a:endParaRPr lang="en-US"/>
          </a:p>
        </p:txBody>
      </p:sp>
      <p:sp>
        <p:nvSpPr>
          <p:cNvPr id="9" name="Rectangle 8">
            <a:extLst>
              <a:ext uri="{FF2B5EF4-FFF2-40B4-BE49-F238E27FC236}">
                <a16:creationId xmlns:a16="http://schemas.microsoft.com/office/drawing/2014/main" id="{D6C98DE0-A0F8-40D4-96C0-F84E9E1C20D4}"/>
              </a:ext>
            </a:extLst>
          </p:cNvPr>
          <p:cNvSpPr>
            <a:spLocks noGrp="1"/>
          </p:cNvSpPr>
          <p:nvPr/>
        </p:nvSpPr>
        <p:spPr>
          <a:xfrm>
            <a:off x="933450" y="2990850"/>
            <a:ext cx="3429000" cy="285750"/>
          </a:xfrm>
          <a:prstGeom prst="rect">
            <a:avLst/>
          </a:prstGeom>
          <a:noFill/>
          <a:ln w="0">
            <a:noFill/>
            <a:prstDash val="solid"/>
          </a:ln>
        </p:spPr>
        <p:txBody>
          <a:bodyPr>
            <a:normAutofit fontScale="85000"/>
          </a:bodyPr>
          <a:lstStyle>
            <a:defPPr algn="l">
              <a:defRPr sz="1500" b="1">
                <a:solidFill>
                  <a:srgbClr val="FFFFFF"/>
                </a:solidFill>
                <a:latin typeface="Arial"/>
                <a:ea typeface="Arial"/>
                <a:cs typeface="Arial"/>
              </a:defRPr>
            </a:defPPr>
          </a:lstStyle>
          <a:p>
            <a:pPr algn="l">
              <a:defRPr sz="1500" b="1">
                <a:solidFill>
                  <a:srgbClr val="FFFFFF"/>
                </a:solidFill>
                <a:latin typeface="Arial"/>
                <a:ea typeface="Arial"/>
                <a:cs typeface="Arial"/>
              </a:defRPr>
            </a:pPr>
            <a:r>
              <a:rPr sz="1500" b="1">
                <a:solidFill>
                  <a:srgbClr val="FFFFFF"/>
                </a:solidFill>
                <a:latin typeface="Arial"/>
                <a:ea typeface="Arial"/>
                <a:cs typeface="Arial"/>
              </a:rPr>
              <a:t>Identity and access</a:t>
            </a:r>
          </a:p>
        </p:txBody>
      </p:sp>
      <p:sp>
        <p:nvSpPr>
          <p:cNvPr id="10" name="Rectangle 9">
            <a:extLst>
              <a:ext uri="{FF2B5EF4-FFF2-40B4-BE49-F238E27FC236}">
                <a16:creationId xmlns:a16="http://schemas.microsoft.com/office/drawing/2014/main" id="{D08CE206-AC0C-4D9C-853B-F335D88C09D0}"/>
              </a:ext>
            </a:extLst>
          </p:cNvPr>
          <p:cNvSpPr>
            <a:spLocks noGrp="1"/>
          </p:cNvSpPr>
          <p:nvPr/>
        </p:nvSpPr>
        <p:spPr>
          <a:xfrm>
            <a:off x="933450" y="3295650"/>
            <a:ext cx="4000500" cy="514350"/>
          </a:xfrm>
          <a:prstGeom prst="rect">
            <a:avLst/>
          </a:prstGeom>
          <a:noFill/>
          <a:ln w="0">
            <a:noFill/>
            <a:prstDash val="solid"/>
          </a:ln>
        </p:spPr>
        <p:txBody>
          <a:bodyPr>
            <a:normAutofit/>
          </a:bodyPr>
          <a:lstStyle>
            <a:defPPr algn="l">
              <a:defRPr sz="1200" b="0">
                <a:solidFill>
                  <a:srgbClr val="B8D5E5"/>
                </a:solidFill>
                <a:latin typeface="Arial"/>
                <a:ea typeface="Arial"/>
                <a:cs typeface="Arial"/>
              </a:defRPr>
            </a:defPPr>
          </a:lstStyle>
          <a:p>
            <a:pPr algn="l">
              <a:defRPr sz="1200" b="0">
                <a:solidFill>
                  <a:srgbClr val="B8D5E5"/>
                </a:solidFill>
                <a:latin typeface="Arial"/>
                <a:ea typeface="Arial"/>
                <a:cs typeface="Arial"/>
              </a:defRPr>
            </a:pPr>
            <a:r>
              <a:rPr sz="1200" b="0">
                <a:solidFill>
                  <a:srgbClr val="B8D5E5"/>
                </a:solidFill>
                <a:latin typeface="Arial"/>
                <a:ea typeface="Arial"/>
                <a:cs typeface="Arial"/>
              </a:rPr>
              <a:t>Security questions allowed public facts to support account recovery.</a:t>
            </a:r>
          </a:p>
        </p:txBody>
      </p:sp>
      <p:sp>
        <p:nvSpPr>
          <p:cNvPr id="11" name="Rectangle 10">
            <a:extLst>
              <a:ext uri="{FF2B5EF4-FFF2-40B4-BE49-F238E27FC236}">
                <a16:creationId xmlns:a16="http://schemas.microsoft.com/office/drawing/2014/main" id="{1E5C0C56-3D71-4721-965A-E037AD1238ED}"/>
              </a:ext>
            </a:extLst>
          </p:cNvPr>
          <p:cNvSpPr>
            <a:spLocks noGrp="1"/>
          </p:cNvSpPr>
          <p:nvPr/>
        </p:nvSpPr>
        <p:spPr>
          <a:xfrm>
            <a:off x="685800" y="3924300"/>
            <a:ext cx="76200" cy="609600"/>
          </a:xfrm>
          <a:prstGeom prst="rect">
            <a:avLst/>
          </a:prstGeom>
          <a:solidFill>
            <a:srgbClr val="42BCEB"/>
          </a:solidFill>
          <a:ln w="9525">
            <a:solidFill>
              <a:srgbClr val="42BCEB"/>
            </a:solidFill>
            <a:prstDash val="solid"/>
          </a:ln>
        </p:spPr>
        <p:txBody>
          <a:bodyPr/>
          <a:lstStyle/>
          <a:p>
            <a:endParaRPr lang="en-US"/>
          </a:p>
        </p:txBody>
      </p:sp>
      <p:sp>
        <p:nvSpPr>
          <p:cNvPr id="12" name="Rectangle 11">
            <a:extLst>
              <a:ext uri="{FF2B5EF4-FFF2-40B4-BE49-F238E27FC236}">
                <a16:creationId xmlns:a16="http://schemas.microsoft.com/office/drawing/2014/main" id="{22FF9A78-B91A-4D69-A94C-B5A895D2E239}"/>
              </a:ext>
            </a:extLst>
          </p:cNvPr>
          <p:cNvSpPr>
            <a:spLocks noGrp="1"/>
          </p:cNvSpPr>
          <p:nvPr/>
        </p:nvSpPr>
        <p:spPr>
          <a:xfrm>
            <a:off x="933450" y="3886200"/>
            <a:ext cx="3429000" cy="285750"/>
          </a:xfrm>
          <a:prstGeom prst="rect">
            <a:avLst/>
          </a:prstGeom>
          <a:noFill/>
          <a:ln w="0">
            <a:noFill/>
            <a:prstDash val="solid"/>
          </a:ln>
        </p:spPr>
        <p:txBody>
          <a:bodyPr>
            <a:normAutofit fontScale="85000"/>
          </a:bodyPr>
          <a:lstStyle>
            <a:defPPr algn="l">
              <a:defRPr sz="1500" b="1">
                <a:solidFill>
                  <a:srgbClr val="FFFFFF"/>
                </a:solidFill>
                <a:latin typeface="Arial"/>
                <a:ea typeface="Arial"/>
                <a:cs typeface="Arial"/>
              </a:defRPr>
            </a:defPPr>
          </a:lstStyle>
          <a:p>
            <a:pPr algn="l">
              <a:defRPr sz="1500" b="1">
                <a:solidFill>
                  <a:srgbClr val="FFFFFF"/>
                </a:solidFill>
                <a:latin typeface="Arial"/>
                <a:ea typeface="Arial"/>
                <a:cs typeface="Arial"/>
              </a:defRPr>
            </a:pPr>
            <a:r>
              <a:rPr sz="1500" b="1">
                <a:solidFill>
                  <a:srgbClr val="FFFFFF"/>
                </a:solidFill>
                <a:latin typeface="Arial"/>
                <a:ea typeface="Arial"/>
                <a:cs typeface="Arial"/>
              </a:rPr>
              <a:t>SOC and SIEM</a:t>
            </a:r>
          </a:p>
        </p:txBody>
      </p:sp>
      <p:sp>
        <p:nvSpPr>
          <p:cNvPr id="13" name="Rectangle 12">
            <a:extLst>
              <a:ext uri="{FF2B5EF4-FFF2-40B4-BE49-F238E27FC236}">
                <a16:creationId xmlns:a16="http://schemas.microsoft.com/office/drawing/2014/main" id="{DCA01E89-2C25-4343-A0F8-9A2A9C5616AE}"/>
              </a:ext>
            </a:extLst>
          </p:cNvPr>
          <p:cNvSpPr>
            <a:spLocks noGrp="1"/>
          </p:cNvSpPr>
          <p:nvPr/>
        </p:nvSpPr>
        <p:spPr>
          <a:xfrm>
            <a:off x="933450" y="4191000"/>
            <a:ext cx="4000500" cy="514350"/>
          </a:xfrm>
          <a:prstGeom prst="rect">
            <a:avLst/>
          </a:prstGeom>
          <a:noFill/>
          <a:ln w="0">
            <a:noFill/>
            <a:prstDash val="solid"/>
          </a:ln>
        </p:spPr>
        <p:txBody>
          <a:bodyPr>
            <a:normAutofit/>
          </a:bodyPr>
          <a:lstStyle>
            <a:defPPr algn="l">
              <a:defRPr sz="1200" b="0">
                <a:solidFill>
                  <a:srgbClr val="B8D5E5"/>
                </a:solidFill>
                <a:latin typeface="Arial"/>
                <a:ea typeface="Arial"/>
                <a:cs typeface="Arial"/>
              </a:defRPr>
            </a:defPPr>
          </a:lstStyle>
          <a:p>
            <a:pPr algn="l">
              <a:defRPr sz="1200" b="0">
                <a:solidFill>
                  <a:srgbClr val="B8D5E5"/>
                </a:solidFill>
                <a:latin typeface="Arial"/>
                <a:ea typeface="Arial"/>
                <a:cs typeface="Arial"/>
              </a:defRPr>
            </a:pPr>
            <a:r>
              <a:rPr sz="1200" b="0">
                <a:solidFill>
                  <a:srgbClr val="B8D5E5"/>
                </a:solidFill>
                <a:latin typeface="Arial"/>
                <a:ea typeface="Arial"/>
                <a:cs typeface="Arial"/>
              </a:rPr>
              <a:t>Correlated logs revealed the attack sequence and confirmed impact.</a:t>
            </a:r>
          </a:p>
        </p:txBody>
      </p:sp>
      <p:sp>
        <p:nvSpPr>
          <p:cNvPr id="14" name="Rectangle 13">
            <a:extLst>
              <a:ext uri="{FF2B5EF4-FFF2-40B4-BE49-F238E27FC236}">
                <a16:creationId xmlns:a16="http://schemas.microsoft.com/office/drawing/2014/main" id="{41636E60-7648-4759-A1F4-F625B5952E61}"/>
              </a:ext>
            </a:extLst>
          </p:cNvPr>
          <p:cNvSpPr>
            <a:spLocks noGrp="1"/>
          </p:cNvSpPr>
          <p:nvPr/>
        </p:nvSpPr>
        <p:spPr>
          <a:xfrm>
            <a:off x="685800" y="4819650"/>
            <a:ext cx="76200" cy="609600"/>
          </a:xfrm>
          <a:prstGeom prst="rect">
            <a:avLst/>
          </a:prstGeom>
          <a:solidFill>
            <a:srgbClr val="FF6A2A"/>
          </a:solidFill>
          <a:ln w="9525">
            <a:solidFill>
              <a:srgbClr val="FF6A2A"/>
            </a:solidFill>
            <a:prstDash val="solid"/>
          </a:ln>
        </p:spPr>
        <p:txBody>
          <a:bodyPr/>
          <a:lstStyle/>
          <a:p>
            <a:endParaRPr lang="en-US"/>
          </a:p>
        </p:txBody>
      </p:sp>
      <p:sp>
        <p:nvSpPr>
          <p:cNvPr id="15" name="Rectangle 14">
            <a:extLst>
              <a:ext uri="{FF2B5EF4-FFF2-40B4-BE49-F238E27FC236}">
                <a16:creationId xmlns:a16="http://schemas.microsoft.com/office/drawing/2014/main" id="{D437D91A-4C30-4B19-AEAA-03435F9E7456}"/>
              </a:ext>
            </a:extLst>
          </p:cNvPr>
          <p:cNvSpPr>
            <a:spLocks noGrp="1"/>
          </p:cNvSpPr>
          <p:nvPr/>
        </p:nvSpPr>
        <p:spPr>
          <a:xfrm>
            <a:off x="933450" y="4781550"/>
            <a:ext cx="3429000" cy="285750"/>
          </a:xfrm>
          <a:prstGeom prst="rect">
            <a:avLst/>
          </a:prstGeom>
          <a:noFill/>
          <a:ln w="0">
            <a:noFill/>
            <a:prstDash val="solid"/>
          </a:ln>
        </p:spPr>
        <p:txBody>
          <a:bodyPr>
            <a:normAutofit fontScale="85000"/>
          </a:bodyPr>
          <a:lstStyle>
            <a:defPPr algn="l">
              <a:defRPr sz="1500" b="1">
                <a:solidFill>
                  <a:srgbClr val="FFFFFF"/>
                </a:solidFill>
                <a:latin typeface="Arial"/>
                <a:ea typeface="Arial"/>
                <a:cs typeface="Arial"/>
              </a:defRPr>
            </a:defPPr>
          </a:lstStyle>
          <a:p>
            <a:pPr algn="l">
              <a:defRPr sz="1500" b="1">
                <a:solidFill>
                  <a:srgbClr val="FFFFFF"/>
                </a:solidFill>
                <a:latin typeface="Arial"/>
                <a:ea typeface="Arial"/>
                <a:cs typeface="Arial"/>
              </a:defRPr>
            </a:pPr>
            <a:r>
              <a:rPr sz="1500" b="1">
                <a:solidFill>
                  <a:srgbClr val="FFFFFF"/>
                </a:solidFill>
                <a:latin typeface="Arial"/>
                <a:ea typeface="Arial"/>
                <a:cs typeface="Arial"/>
              </a:rPr>
              <a:t>NIST CSF 2.0</a:t>
            </a:r>
          </a:p>
        </p:txBody>
      </p:sp>
      <p:sp>
        <p:nvSpPr>
          <p:cNvPr id="16" name="Rectangle 15">
            <a:extLst>
              <a:ext uri="{FF2B5EF4-FFF2-40B4-BE49-F238E27FC236}">
                <a16:creationId xmlns:a16="http://schemas.microsoft.com/office/drawing/2014/main" id="{E625674F-0DFD-463E-97A5-A69F08F0AB4C}"/>
              </a:ext>
            </a:extLst>
          </p:cNvPr>
          <p:cNvSpPr>
            <a:spLocks noGrp="1"/>
          </p:cNvSpPr>
          <p:nvPr/>
        </p:nvSpPr>
        <p:spPr>
          <a:xfrm>
            <a:off x="933450" y="5086350"/>
            <a:ext cx="4000500" cy="514350"/>
          </a:xfrm>
          <a:prstGeom prst="rect">
            <a:avLst/>
          </a:prstGeom>
          <a:noFill/>
          <a:ln w="0">
            <a:noFill/>
            <a:prstDash val="solid"/>
          </a:ln>
        </p:spPr>
        <p:txBody>
          <a:bodyPr>
            <a:normAutofit/>
          </a:bodyPr>
          <a:lstStyle>
            <a:defPPr algn="l">
              <a:defRPr sz="1200" b="0">
                <a:solidFill>
                  <a:srgbClr val="B8D5E5"/>
                </a:solidFill>
                <a:latin typeface="Arial"/>
                <a:ea typeface="Arial"/>
                <a:cs typeface="Arial"/>
              </a:defRPr>
            </a:defPPr>
          </a:lstStyle>
          <a:p>
            <a:pPr algn="l">
              <a:defRPr sz="1200" b="0">
                <a:solidFill>
                  <a:srgbClr val="B8D5E5"/>
                </a:solidFill>
                <a:latin typeface="Arial"/>
                <a:ea typeface="Arial"/>
                <a:cs typeface="Arial"/>
              </a:defRPr>
            </a:pPr>
            <a:r>
              <a:rPr sz="1200" b="0">
                <a:solidFill>
                  <a:srgbClr val="B8D5E5"/>
                </a:solidFill>
                <a:latin typeface="Arial"/>
                <a:ea typeface="Arial"/>
                <a:cs typeface="Arial"/>
              </a:rPr>
              <a:t>Protect, Detect and Respond controls could interrupt the chain.</a:t>
            </a:r>
          </a:p>
        </p:txBody>
      </p:sp>
      <p:sp>
        <p:nvSpPr>
          <p:cNvPr id="17" name="Rectangle 16">
            <a:extLst>
              <a:ext uri="{FF2B5EF4-FFF2-40B4-BE49-F238E27FC236}">
                <a16:creationId xmlns:a16="http://schemas.microsoft.com/office/drawing/2014/main" id="{3247178C-0195-4ACB-9746-5B495B1E126C}"/>
              </a:ext>
            </a:extLst>
          </p:cNvPr>
          <p:cNvSpPr>
            <a:spLocks noGrp="1"/>
          </p:cNvSpPr>
          <p:nvPr/>
        </p:nvSpPr>
        <p:spPr>
          <a:xfrm>
            <a:off x="5467350" y="1504950"/>
            <a:ext cx="28575" cy="4495800"/>
          </a:xfrm>
          <a:prstGeom prst="rect">
            <a:avLst/>
          </a:prstGeom>
          <a:solidFill>
            <a:srgbClr val="2A5A75"/>
          </a:solidFill>
          <a:ln w="9525">
            <a:solidFill>
              <a:srgbClr val="2A5A75"/>
            </a:solidFill>
            <a:prstDash val="solid"/>
          </a:ln>
        </p:spPr>
        <p:txBody>
          <a:bodyPr/>
          <a:lstStyle/>
          <a:p>
            <a:endParaRPr lang="en-US"/>
          </a:p>
        </p:txBody>
      </p:sp>
      <p:sp>
        <p:nvSpPr>
          <p:cNvPr id="18" name="Rectangle 17">
            <a:extLst>
              <a:ext uri="{FF2B5EF4-FFF2-40B4-BE49-F238E27FC236}">
                <a16:creationId xmlns:a16="http://schemas.microsoft.com/office/drawing/2014/main" id="{CD2CE7C1-5186-40F3-B55A-EC42676B5270}"/>
              </a:ext>
            </a:extLst>
          </p:cNvPr>
          <p:cNvSpPr>
            <a:spLocks noGrp="1"/>
          </p:cNvSpPr>
          <p:nvPr/>
        </p:nvSpPr>
        <p:spPr>
          <a:xfrm>
            <a:off x="5953125" y="1581150"/>
            <a:ext cx="4762500" cy="361950"/>
          </a:xfrm>
          <a:prstGeom prst="rect">
            <a:avLst/>
          </a:prstGeom>
          <a:noFill/>
          <a:ln w="0">
            <a:noFill/>
            <a:prstDash val="solid"/>
          </a:ln>
        </p:spPr>
        <p:txBody>
          <a:bodyPr>
            <a:normAutofit fontScale="94667"/>
          </a:bodyPr>
          <a:lstStyle>
            <a:defPPr algn="l">
              <a:defRPr sz="1875" b="1">
                <a:solidFill>
                  <a:srgbClr val="FF6A2A"/>
                </a:solidFill>
                <a:latin typeface="Arial"/>
                <a:ea typeface="Arial"/>
                <a:cs typeface="Arial"/>
              </a:defRPr>
            </a:defPPr>
          </a:lstStyle>
          <a:p>
            <a:pPr algn="l">
              <a:defRPr sz="1875" b="1">
                <a:solidFill>
                  <a:srgbClr val="FF6A2A"/>
                </a:solidFill>
                <a:latin typeface="Arial"/>
                <a:ea typeface="Arial"/>
                <a:cs typeface="Arial"/>
              </a:defRPr>
            </a:pPr>
            <a:r>
              <a:rPr sz="1875" b="1">
                <a:solidFill>
                  <a:srgbClr val="FF6A2A"/>
                </a:solidFill>
                <a:latin typeface="Arial"/>
                <a:ea typeface="Arial"/>
                <a:cs typeface="Arial"/>
              </a:rPr>
              <a:t>Controls that would reduce risk</a:t>
            </a:r>
          </a:p>
        </p:txBody>
      </p:sp>
      <p:sp>
        <p:nvSpPr>
          <p:cNvPr id="19" name="Rectangle 18">
            <a:extLst>
              <a:ext uri="{FF2B5EF4-FFF2-40B4-BE49-F238E27FC236}">
                <a16:creationId xmlns:a16="http://schemas.microsoft.com/office/drawing/2014/main" id="{37156798-E9BE-4C0E-A961-1F4AF7047889}"/>
              </a:ext>
            </a:extLst>
          </p:cNvPr>
          <p:cNvSpPr>
            <a:spLocks noGrp="1"/>
          </p:cNvSpPr>
          <p:nvPr/>
        </p:nvSpPr>
        <p:spPr>
          <a:xfrm>
            <a:off x="5981700" y="2114550"/>
            <a:ext cx="514350" cy="247650"/>
          </a:xfrm>
          <a:prstGeom prst="rect">
            <a:avLst/>
          </a:prstGeom>
          <a:noFill/>
          <a:ln w="0">
            <a:noFill/>
            <a:prstDash val="solid"/>
          </a:ln>
        </p:spPr>
        <p:txBody>
          <a:bodyPr>
            <a:normAutofit fontScale="80392"/>
          </a:bodyPr>
          <a:lstStyle>
            <a:defPPr algn="l">
              <a:defRPr sz="1275" b="1">
                <a:solidFill>
                  <a:srgbClr val="42BCEB"/>
                </a:solidFill>
                <a:latin typeface="Arial"/>
                <a:ea typeface="Arial"/>
                <a:cs typeface="Arial"/>
              </a:defRPr>
            </a:defPPr>
          </a:lstStyle>
          <a:p>
            <a:pPr algn="l">
              <a:defRPr sz="1275" b="1">
                <a:solidFill>
                  <a:srgbClr val="42BCEB"/>
                </a:solidFill>
                <a:latin typeface="Arial"/>
                <a:ea typeface="Arial"/>
                <a:cs typeface="Arial"/>
              </a:defRPr>
            </a:pPr>
            <a:r>
              <a:rPr sz="1275" b="1">
                <a:solidFill>
                  <a:srgbClr val="42BCEB"/>
                </a:solidFill>
                <a:latin typeface="Arial"/>
                <a:ea typeface="Arial"/>
                <a:cs typeface="Arial"/>
              </a:rPr>
              <a:t>01</a:t>
            </a:r>
          </a:p>
        </p:txBody>
      </p:sp>
      <p:sp>
        <p:nvSpPr>
          <p:cNvPr id="20" name="Rectangle 19">
            <a:extLst>
              <a:ext uri="{FF2B5EF4-FFF2-40B4-BE49-F238E27FC236}">
                <a16:creationId xmlns:a16="http://schemas.microsoft.com/office/drawing/2014/main" id="{AB97A892-6CB7-48AB-B402-5D13C45D03D9}"/>
              </a:ext>
            </a:extLst>
          </p:cNvPr>
          <p:cNvSpPr>
            <a:spLocks noGrp="1"/>
          </p:cNvSpPr>
          <p:nvPr/>
        </p:nvSpPr>
        <p:spPr>
          <a:xfrm>
            <a:off x="6629400" y="2095500"/>
            <a:ext cx="4476750" cy="552450"/>
          </a:xfrm>
          <a:prstGeom prst="rect">
            <a:avLst/>
          </a:prstGeom>
          <a:noFill/>
          <a:ln w="0">
            <a:noFill/>
            <a:prstDash val="solid"/>
          </a:ln>
        </p:spPr>
        <p:txBody>
          <a:bodyPr>
            <a:normAutofit/>
          </a:bodyPr>
          <a:lstStyle>
            <a:defPPr algn="l">
              <a:defRPr sz="1350" b="0">
                <a:solidFill>
                  <a:srgbClr val="FFFFFF"/>
                </a:solidFill>
                <a:latin typeface="Arial"/>
                <a:ea typeface="Arial"/>
                <a:cs typeface="Arial"/>
              </a:defRPr>
            </a:defPPr>
          </a:lstStyle>
          <a:p>
            <a:pPr algn="l">
              <a:defRPr sz="1350" b="0">
                <a:solidFill>
                  <a:srgbClr val="FFFFFF"/>
                </a:solidFill>
                <a:latin typeface="Arial"/>
                <a:ea typeface="Arial"/>
                <a:cs typeface="Arial"/>
              </a:defRPr>
            </a:pPr>
            <a:r>
              <a:rPr sz="1350" b="0">
                <a:solidFill>
                  <a:srgbClr val="FFFFFF"/>
                </a:solidFill>
                <a:latin typeface="Arial"/>
                <a:ea typeface="Arial"/>
                <a:cs typeface="Arial"/>
              </a:rPr>
              <a:t>Replace knowledge-based recovery with stronger identity verification.</a:t>
            </a:r>
          </a:p>
        </p:txBody>
      </p:sp>
      <p:sp>
        <p:nvSpPr>
          <p:cNvPr id="21" name="Rectangle 20">
            <a:extLst>
              <a:ext uri="{FF2B5EF4-FFF2-40B4-BE49-F238E27FC236}">
                <a16:creationId xmlns:a16="http://schemas.microsoft.com/office/drawing/2014/main" id="{3B87E16D-3609-4CE5-B2C9-4A97E584528A}"/>
              </a:ext>
            </a:extLst>
          </p:cNvPr>
          <p:cNvSpPr>
            <a:spLocks noGrp="1"/>
          </p:cNvSpPr>
          <p:nvPr/>
        </p:nvSpPr>
        <p:spPr>
          <a:xfrm>
            <a:off x="5981700" y="2857500"/>
            <a:ext cx="514350" cy="247650"/>
          </a:xfrm>
          <a:prstGeom prst="rect">
            <a:avLst/>
          </a:prstGeom>
          <a:noFill/>
          <a:ln w="0">
            <a:noFill/>
            <a:prstDash val="solid"/>
          </a:ln>
        </p:spPr>
        <p:txBody>
          <a:bodyPr>
            <a:normAutofit fontScale="80392"/>
          </a:bodyPr>
          <a:lstStyle>
            <a:defPPr algn="l">
              <a:defRPr sz="1275" b="1">
                <a:solidFill>
                  <a:srgbClr val="42BCEB"/>
                </a:solidFill>
                <a:latin typeface="Arial"/>
                <a:ea typeface="Arial"/>
                <a:cs typeface="Arial"/>
              </a:defRPr>
            </a:defPPr>
          </a:lstStyle>
          <a:p>
            <a:pPr algn="l">
              <a:defRPr sz="1275" b="1">
                <a:solidFill>
                  <a:srgbClr val="42BCEB"/>
                </a:solidFill>
                <a:latin typeface="Arial"/>
                <a:ea typeface="Arial"/>
                <a:cs typeface="Arial"/>
              </a:defRPr>
            </a:pPr>
            <a:r>
              <a:rPr sz="1275" b="1">
                <a:solidFill>
                  <a:srgbClr val="42BCEB"/>
                </a:solidFill>
                <a:latin typeface="Arial"/>
                <a:ea typeface="Arial"/>
                <a:cs typeface="Arial"/>
              </a:rPr>
              <a:t>02</a:t>
            </a:r>
          </a:p>
        </p:txBody>
      </p:sp>
      <p:sp>
        <p:nvSpPr>
          <p:cNvPr id="22" name="Rectangle 21">
            <a:extLst>
              <a:ext uri="{FF2B5EF4-FFF2-40B4-BE49-F238E27FC236}">
                <a16:creationId xmlns:a16="http://schemas.microsoft.com/office/drawing/2014/main" id="{D348223E-B05B-419B-9779-0E86E92F42F6}"/>
              </a:ext>
            </a:extLst>
          </p:cNvPr>
          <p:cNvSpPr>
            <a:spLocks noGrp="1"/>
          </p:cNvSpPr>
          <p:nvPr/>
        </p:nvSpPr>
        <p:spPr>
          <a:xfrm>
            <a:off x="6629400" y="2838450"/>
            <a:ext cx="4476750" cy="552450"/>
          </a:xfrm>
          <a:prstGeom prst="rect">
            <a:avLst/>
          </a:prstGeom>
          <a:noFill/>
          <a:ln w="0">
            <a:noFill/>
            <a:prstDash val="solid"/>
          </a:ln>
        </p:spPr>
        <p:txBody>
          <a:bodyPr>
            <a:normAutofit/>
          </a:bodyPr>
          <a:lstStyle>
            <a:defPPr algn="l">
              <a:defRPr sz="1350" b="0">
                <a:solidFill>
                  <a:srgbClr val="FFFFFF"/>
                </a:solidFill>
                <a:latin typeface="Arial"/>
                <a:ea typeface="Arial"/>
                <a:cs typeface="Arial"/>
              </a:defRPr>
            </a:defPPr>
          </a:lstStyle>
          <a:p>
            <a:pPr algn="l">
              <a:defRPr sz="1350" b="0">
                <a:solidFill>
                  <a:srgbClr val="FFFFFF"/>
                </a:solidFill>
                <a:latin typeface="Arial"/>
                <a:ea typeface="Arial"/>
                <a:cs typeface="Arial"/>
              </a:defRPr>
            </a:pPr>
            <a:r>
              <a:rPr sz="1350" b="0">
                <a:solidFill>
                  <a:srgbClr val="FFFFFF"/>
                </a:solidFill>
                <a:latin typeface="Arial"/>
                <a:ea typeface="Arial"/>
                <a:cs typeface="Arial"/>
              </a:rPr>
              <a:t>Require phishing-resistant MFA for email and account recovery.</a:t>
            </a:r>
          </a:p>
        </p:txBody>
      </p:sp>
      <p:sp>
        <p:nvSpPr>
          <p:cNvPr id="23" name="Rectangle 22">
            <a:extLst>
              <a:ext uri="{FF2B5EF4-FFF2-40B4-BE49-F238E27FC236}">
                <a16:creationId xmlns:a16="http://schemas.microsoft.com/office/drawing/2014/main" id="{CE97F199-9594-4177-B127-37FA347802FF}"/>
              </a:ext>
            </a:extLst>
          </p:cNvPr>
          <p:cNvSpPr>
            <a:spLocks noGrp="1"/>
          </p:cNvSpPr>
          <p:nvPr/>
        </p:nvSpPr>
        <p:spPr>
          <a:xfrm>
            <a:off x="5981700" y="3600450"/>
            <a:ext cx="514350" cy="247650"/>
          </a:xfrm>
          <a:prstGeom prst="rect">
            <a:avLst/>
          </a:prstGeom>
          <a:noFill/>
          <a:ln w="0">
            <a:noFill/>
            <a:prstDash val="solid"/>
          </a:ln>
        </p:spPr>
        <p:txBody>
          <a:bodyPr>
            <a:normAutofit fontScale="80392"/>
          </a:bodyPr>
          <a:lstStyle>
            <a:defPPr algn="l">
              <a:defRPr sz="1275" b="1">
                <a:solidFill>
                  <a:srgbClr val="42BCEB"/>
                </a:solidFill>
                <a:latin typeface="Arial"/>
                <a:ea typeface="Arial"/>
                <a:cs typeface="Arial"/>
              </a:defRPr>
            </a:defPPr>
          </a:lstStyle>
          <a:p>
            <a:pPr algn="l">
              <a:defRPr sz="1275" b="1">
                <a:solidFill>
                  <a:srgbClr val="42BCEB"/>
                </a:solidFill>
                <a:latin typeface="Arial"/>
                <a:ea typeface="Arial"/>
                <a:cs typeface="Arial"/>
              </a:defRPr>
            </a:pPr>
            <a:r>
              <a:rPr sz="1275" b="1">
                <a:solidFill>
                  <a:srgbClr val="42BCEB"/>
                </a:solidFill>
                <a:latin typeface="Arial"/>
                <a:ea typeface="Arial"/>
                <a:cs typeface="Arial"/>
              </a:rPr>
              <a:t>03</a:t>
            </a:r>
          </a:p>
        </p:txBody>
      </p:sp>
      <p:sp>
        <p:nvSpPr>
          <p:cNvPr id="24" name="Rectangle 23">
            <a:extLst>
              <a:ext uri="{FF2B5EF4-FFF2-40B4-BE49-F238E27FC236}">
                <a16:creationId xmlns:a16="http://schemas.microsoft.com/office/drawing/2014/main" id="{F1D00974-02BE-43A9-BFE4-80D481102DBA}"/>
              </a:ext>
            </a:extLst>
          </p:cNvPr>
          <p:cNvSpPr>
            <a:spLocks noGrp="1"/>
          </p:cNvSpPr>
          <p:nvPr/>
        </p:nvSpPr>
        <p:spPr>
          <a:xfrm>
            <a:off x="6629400" y="3581400"/>
            <a:ext cx="4476750" cy="552450"/>
          </a:xfrm>
          <a:prstGeom prst="rect">
            <a:avLst/>
          </a:prstGeom>
          <a:noFill/>
          <a:ln w="0">
            <a:noFill/>
            <a:prstDash val="solid"/>
          </a:ln>
        </p:spPr>
        <p:txBody>
          <a:bodyPr>
            <a:normAutofit/>
          </a:bodyPr>
          <a:lstStyle>
            <a:defPPr algn="l">
              <a:defRPr sz="1350" b="0">
                <a:solidFill>
                  <a:srgbClr val="FFFFFF"/>
                </a:solidFill>
                <a:latin typeface="Arial"/>
                <a:ea typeface="Arial"/>
                <a:cs typeface="Arial"/>
              </a:defRPr>
            </a:defPPr>
          </a:lstStyle>
          <a:p>
            <a:pPr algn="l">
              <a:defRPr sz="1350" b="0">
                <a:solidFill>
                  <a:srgbClr val="FFFFFF"/>
                </a:solidFill>
                <a:latin typeface="Arial"/>
                <a:ea typeface="Arial"/>
                <a:cs typeface="Arial"/>
              </a:defRPr>
            </a:pPr>
            <a:r>
              <a:rPr sz="1350" b="0">
                <a:solidFill>
                  <a:srgbClr val="FFFFFF"/>
                </a:solidFill>
                <a:latin typeface="Arial"/>
                <a:ea typeface="Arial"/>
                <a:cs typeface="Arial"/>
              </a:rPr>
              <a:t>Inspect links and isolate suspicious external email content.</a:t>
            </a:r>
          </a:p>
        </p:txBody>
      </p:sp>
      <p:sp>
        <p:nvSpPr>
          <p:cNvPr id="25" name="Rectangle 24">
            <a:extLst>
              <a:ext uri="{FF2B5EF4-FFF2-40B4-BE49-F238E27FC236}">
                <a16:creationId xmlns:a16="http://schemas.microsoft.com/office/drawing/2014/main" id="{54912EFE-D117-433D-9DF9-E5922806854F}"/>
              </a:ext>
            </a:extLst>
          </p:cNvPr>
          <p:cNvSpPr>
            <a:spLocks noGrp="1"/>
          </p:cNvSpPr>
          <p:nvPr/>
        </p:nvSpPr>
        <p:spPr>
          <a:xfrm>
            <a:off x="5981700" y="4343400"/>
            <a:ext cx="514350" cy="247650"/>
          </a:xfrm>
          <a:prstGeom prst="rect">
            <a:avLst/>
          </a:prstGeom>
          <a:noFill/>
          <a:ln w="0">
            <a:noFill/>
            <a:prstDash val="solid"/>
          </a:ln>
        </p:spPr>
        <p:txBody>
          <a:bodyPr>
            <a:normAutofit fontScale="80392"/>
          </a:bodyPr>
          <a:lstStyle>
            <a:defPPr algn="l">
              <a:defRPr sz="1275" b="1">
                <a:solidFill>
                  <a:srgbClr val="42BCEB"/>
                </a:solidFill>
                <a:latin typeface="Arial"/>
                <a:ea typeface="Arial"/>
                <a:cs typeface="Arial"/>
              </a:defRPr>
            </a:defPPr>
          </a:lstStyle>
          <a:p>
            <a:pPr algn="l">
              <a:defRPr sz="1275" b="1">
                <a:solidFill>
                  <a:srgbClr val="42BCEB"/>
                </a:solidFill>
                <a:latin typeface="Arial"/>
                <a:ea typeface="Arial"/>
                <a:cs typeface="Arial"/>
              </a:defRPr>
            </a:pPr>
            <a:r>
              <a:rPr sz="1275" b="1">
                <a:solidFill>
                  <a:srgbClr val="42BCEB"/>
                </a:solidFill>
                <a:latin typeface="Arial"/>
                <a:ea typeface="Arial"/>
                <a:cs typeface="Arial"/>
              </a:rPr>
              <a:t>04</a:t>
            </a:r>
          </a:p>
        </p:txBody>
      </p:sp>
      <p:sp>
        <p:nvSpPr>
          <p:cNvPr id="26" name="Rectangle 25">
            <a:extLst>
              <a:ext uri="{FF2B5EF4-FFF2-40B4-BE49-F238E27FC236}">
                <a16:creationId xmlns:a16="http://schemas.microsoft.com/office/drawing/2014/main" id="{1CA3EBD1-2B97-4C92-8E43-20489306770F}"/>
              </a:ext>
            </a:extLst>
          </p:cNvPr>
          <p:cNvSpPr>
            <a:spLocks noGrp="1"/>
          </p:cNvSpPr>
          <p:nvPr/>
        </p:nvSpPr>
        <p:spPr>
          <a:xfrm>
            <a:off x="6629400" y="4324350"/>
            <a:ext cx="4476750" cy="552450"/>
          </a:xfrm>
          <a:prstGeom prst="rect">
            <a:avLst/>
          </a:prstGeom>
          <a:noFill/>
          <a:ln w="0">
            <a:noFill/>
            <a:prstDash val="solid"/>
          </a:ln>
        </p:spPr>
        <p:txBody>
          <a:bodyPr>
            <a:normAutofit/>
          </a:bodyPr>
          <a:lstStyle>
            <a:defPPr algn="l">
              <a:defRPr sz="1350" b="0">
                <a:solidFill>
                  <a:srgbClr val="FFFFFF"/>
                </a:solidFill>
                <a:latin typeface="Arial"/>
                <a:ea typeface="Arial"/>
                <a:cs typeface="Arial"/>
              </a:defRPr>
            </a:defPPr>
          </a:lstStyle>
          <a:p>
            <a:pPr algn="l">
              <a:defRPr sz="1350" b="0">
                <a:solidFill>
                  <a:srgbClr val="FFFFFF"/>
                </a:solidFill>
                <a:latin typeface="Arial"/>
                <a:ea typeface="Arial"/>
                <a:cs typeface="Arial"/>
              </a:defRPr>
            </a:pPr>
            <a:r>
              <a:rPr sz="1350" b="0">
                <a:solidFill>
                  <a:srgbClr val="FFFFFF"/>
                </a:solidFill>
                <a:latin typeface="Arial"/>
                <a:ea typeface="Arial"/>
                <a:cs typeface="Arial"/>
              </a:rPr>
              <a:t>Centralise identity, email and network logs with compromise playbooks.</a:t>
            </a:r>
          </a:p>
        </p:txBody>
      </p:sp>
      <p:sp>
        <p:nvSpPr>
          <p:cNvPr id="27" name="Rectangle 26">
            <a:extLst>
              <a:ext uri="{FF2B5EF4-FFF2-40B4-BE49-F238E27FC236}">
                <a16:creationId xmlns:a16="http://schemas.microsoft.com/office/drawing/2014/main" id="{8612AE70-3C3A-4325-9CDF-5CCF7829E25D}"/>
              </a:ext>
            </a:extLst>
          </p:cNvPr>
          <p:cNvSpPr>
            <a:spLocks noGrp="1"/>
          </p:cNvSpPr>
          <p:nvPr/>
        </p:nvSpPr>
        <p:spPr>
          <a:xfrm>
            <a:off x="5981700" y="5086350"/>
            <a:ext cx="514350" cy="247650"/>
          </a:xfrm>
          <a:prstGeom prst="rect">
            <a:avLst/>
          </a:prstGeom>
          <a:noFill/>
          <a:ln w="0">
            <a:noFill/>
            <a:prstDash val="solid"/>
          </a:ln>
        </p:spPr>
        <p:txBody>
          <a:bodyPr>
            <a:normAutofit fontScale="80392"/>
          </a:bodyPr>
          <a:lstStyle>
            <a:defPPr algn="l">
              <a:defRPr sz="1275" b="1">
                <a:solidFill>
                  <a:srgbClr val="42BCEB"/>
                </a:solidFill>
                <a:latin typeface="Arial"/>
                <a:ea typeface="Arial"/>
                <a:cs typeface="Arial"/>
              </a:defRPr>
            </a:defPPr>
          </a:lstStyle>
          <a:p>
            <a:pPr algn="l">
              <a:defRPr sz="1275" b="1">
                <a:solidFill>
                  <a:srgbClr val="42BCEB"/>
                </a:solidFill>
                <a:latin typeface="Arial"/>
                <a:ea typeface="Arial"/>
                <a:cs typeface="Arial"/>
              </a:defRPr>
            </a:pPr>
            <a:r>
              <a:rPr sz="1275" b="1">
                <a:solidFill>
                  <a:srgbClr val="42BCEB"/>
                </a:solidFill>
                <a:latin typeface="Arial"/>
                <a:ea typeface="Arial"/>
                <a:cs typeface="Arial"/>
              </a:rPr>
              <a:t>05</a:t>
            </a:r>
          </a:p>
        </p:txBody>
      </p:sp>
      <p:sp>
        <p:nvSpPr>
          <p:cNvPr id="28" name="Rectangle 27">
            <a:extLst>
              <a:ext uri="{FF2B5EF4-FFF2-40B4-BE49-F238E27FC236}">
                <a16:creationId xmlns:a16="http://schemas.microsoft.com/office/drawing/2014/main" id="{0B48F1AE-EE68-427D-824C-44638979E4A6}"/>
              </a:ext>
            </a:extLst>
          </p:cNvPr>
          <p:cNvSpPr>
            <a:spLocks noGrp="1"/>
          </p:cNvSpPr>
          <p:nvPr/>
        </p:nvSpPr>
        <p:spPr>
          <a:xfrm>
            <a:off x="6629400" y="5067300"/>
            <a:ext cx="4476750" cy="552450"/>
          </a:xfrm>
          <a:prstGeom prst="rect">
            <a:avLst/>
          </a:prstGeom>
          <a:noFill/>
          <a:ln w="0">
            <a:noFill/>
            <a:prstDash val="solid"/>
          </a:ln>
        </p:spPr>
        <p:txBody>
          <a:bodyPr>
            <a:normAutofit/>
          </a:bodyPr>
          <a:lstStyle>
            <a:defPPr algn="l">
              <a:defRPr sz="1350" b="0">
                <a:solidFill>
                  <a:srgbClr val="FFFFFF"/>
                </a:solidFill>
                <a:latin typeface="Arial"/>
                <a:ea typeface="Arial"/>
                <a:cs typeface="Arial"/>
              </a:defRPr>
            </a:defPPr>
          </a:lstStyle>
          <a:p>
            <a:pPr algn="l">
              <a:defRPr sz="1350" b="0">
                <a:solidFill>
                  <a:srgbClr val="FFFFFF"/>
                </a:solidFill>
                <a:latin typeface="Arial"/>
                <a:ea typeface="Arial"/>
                <a:cs typeface="Arial"/>
              </a:defRPr>
            </a:pPr>
            <a:r>
              <a:rPr sz="1350" b="0">
                <a:solidFill>
                  <a:srgbClr val="FFFFFF"/>
                </a:solidFill>
                <a:latin typeface="Arial"/>
                <a:ea typeface="Arial"/>
                <a:cs typeface="Arial"/>
              </a:rPr>
              <a:t>Use current phishing exercises and clear reporting procedures.</a:t>
            </a:r>
          </a:p>
        </p:txBody>
      </p:sp>
      <p:sp>
        <p:nvSpPr>
          <p:cNvPr id="29" name="Rectangle 28">
            <a:extLst>
              <a:ext uri="{FF2B5EF4-FFF2-40B4-BE49-F238E27FC236}">
                <a16:creationId xmlns:a16="http://schemas.microsoft.com/office/drawing/2014/main" id="{6F74B6BF-74E4-4220-B536-8333F1BE758D}"/>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91AFC2"/>
                </a:solidFill>
                <a:latin typeface="Arial"/>
                <a:ea typeface="Arial"/>
                <a:cs typeface="Arial"/>
              </a:defRPr>
            </a:defPPr>
          </a:lstStyle>
          <a:p>
            <a:pPr algn="l">
              <a:defRPr sz="825" b="1">
                <a:solidFill>
                  <a:srgbClr val="91AFC2"/>
                </a:solidFill>
                <a:latin typeface="Arial"/>
                <a:ea typeface="Arial"/>
                <a:cs typeface="Arial"/>
              </a:defRPr>
            </a:pPr>
            <a:r>
              <a:rPr sz="825" b="1">
                <a:solidFill>
                  <a:srgbClr val="91AFC2"/>
                </a:solidFill>
                <a:latin typeface="Arial"/>
                <a:ea typeface="Arial"/>
                <a:cs typeface="Arial"/>
              </a:rPr>
              <a:t>ITECH1502  |  KC7 A Rap Beef</a:t>
            </a:r>
          </a:p>
        </p:txBody>
      </p:sp>
      <p:sp>
        <p:nvSpPr>
          <p:cNvPr id="30" name="Rectangle 29">
            <a:extLst>
              <a:ext uri="{FF2B5EF4-FFF2-40B4-BE49-F238E27FC236}">
                <a16:creationId xmlns:a16="http://schemas.microsoft.com/office/drawing/2014/main" id="{5FDF37B7-9958-41B4-B37E-3D065CF675C4}"/>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42BCEB"/>
                </a:solidFill>
                <a:latin typeface="Arial"/>
                <a:ea typeface="Arial"/>
                <a:cs typeface="Arial"/>
              </a:defRPr>
            </a:defPPr>
          </a:lstStyle>
          <a:p>
            <a:pPr algn="r">
              <a:defRPr sz="900" b="1">
                <a:solidFill>
                  <a:srgbClr val="42BCEB"/>
                </a:solidFill>
                <a:latin typeface="Arial"/>
                <a:ea typeface="Arial"/>
                <a:cs typeface="Arial"/>
              </a:defRPr>
            </a:pPr>
            <a:r>
              <a:rPr sz="900" b="1">
                <a:solidFill>
                  <a:srgbClr val="42BCEB"/>
                </a:solidFill>
                <a:latin typeface="Arial"/>
                <a:ea typeface="Arial"/>
                <a:cs typeface="Arial"/>
              </a:rPr>
              <a:t>08</a:t>
            </a:r>
          </a:p>
        </p:txBody>
      </p:sp>
    </p:spTree>
    <p:extLst>
      <p:ext uri="{BB962C8B-B14F-4D97-AF65-F5344CB8AC3E}">
        <p14:creationId xmlns:p14="http://schemas.microsoft.com/office/powerpoint/2010/main" val="1712315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6A6D589-0DB8-4718-96F2-D213DFE52CC6}"/>
              </a:ext>
            </a:extLst>
          </p:cNvPr>
          <p:cNvSpPr>
            <a:spLocks noGrp="1"/>
          </p:cNvSpPr>
          <p:nvPr/>
        </p:nvSpPr>
        <p:spPr>
          <a:xfrm>
            <a:off x="647700" y="400050"/>
            <a:ext cx="10839450" cy="514350"/>
          </a:xfrm>
          <a:prstGeom prst="rect">
            <a:avLst/>
          </a:prstGeom>
          <a:noFill/>
          <a:ln w="0">
            <a:noFill/>
            <a:prstDash val="solid"/>
          </a:ln>
        </p:spPr>
        <p:txBody>
          <a:bodyPr>
            <a:normAutofit/>
          </a:bodyPr>
          <a:lstStyle>
            <a:defPPr algn="l">
              <a:defRPr sz="2550" b="1">
                <a:solidFill>
                  <a:srgbClr val="152033"/>
                </a:solidFill>
                <a:latin typeface="Arial"/>
                <a:ea typeface="Arial"/>
                <a:cs typeface="Arial"/>
              </a:defRPr>
            </a:defPPr>
          </a:lstStyle>
          <a:p>
            <a:pPr algn="l">
              <a:defRPr sz="2550" b="1">
                <a:solidFill>
                  <a:srgbClr val="152033"/>
                </a:solidFill>
                <a:latin typeface="Arial"/>
                <a:ea typeface="Arial"/>
                <a:cs typeface="Arial"/>
              </a:defRPr>
            </a:pPr>
            <a:r>
              <a:rPr sz="2550" b="1">
                <a:solidFill>
                  <a:srgbClr val="152033"/>
                </a:solidFill>
                <a:latin typeface="Arial"/>
                <a:ea typeface="Arial"/>
                <a:cs typeface="Arial"/>
              </a:rPr>
              <a:t>Reflection and professional growth</a:t>
            </a:r>
          </a:p>
        </p:txBody>
      </p:sp>
      <p:sp>
        <p:nvSpPr>
          <p:cNvPr id="2" name="Rectangle 1">
            <a:extLst>
              <a:ext uri="{FF2B5EF4-FFF2-40B4-BE49-F238E27FC236}">
                <a16:creationId xmlns:a16="http://schemas.microsoft.com/office/drawing/2014/main" id="{3255E01B-1CB2-405A-96B8-64FE94F616F8}"/>
              </a:ext>
            </a:extLst>
          </p:cNvPr>
          <p:cNvSpPr>
            <a:spLocks noGrp="1"/>
          </p:cNvSpPr>
          <p:nvPr/>
        </p:nvSpPr>
        <p:spPr>
          <a:xfrm>
            <a:off x="666750" y="895350"/>
            <a:ext cx="10572750" cy="323850"/>
          </a:xfrm>
          <a:prstGeom prst="rect">
            <a:avLst/>
          </a:prstGeom>
          <a:noFill/>
          <a:ln w="0">
            <a:noFill/>
            <a:prstDash val="solid"/>
          </a:ln>
        </p:spPr>
        <p:txBody>
          <a:bodyPr>
            <a:normAutofit/>
          </a:bodyPr>
          <a:lstStyle>
            <a:defPPr algn="l">
              <a:defRPr sz="1350" b="0">
                <a:solidFill>
                  <a:srgbClr val="566275"/>
                </a:solidFill>
                <a:latin typeface="Arial"/>
                <a:ea typeface="Arial"/>
                <a:cs typeface="Arial"/>
              </a:defRPr>
            </a:defPPr>
          </a:lstStyle>
          <a:p>
            <a:pPr algn="l">
              <a:defRPr sz="1350" b="0">
                <a:solidFill>
                  <a:srgbClr val="566275"/>
                </a:solidFill>
                <a:latin typeface="Arial"/>
                <a:ea typeface="Arial"/>
                <a:cs typeface="Arial"/>
              </a:defRPr>
            </a:pPr>
            <a:r>
              <a:rPr sz="1350" b="0">
                <a:solidFill>
                  <a:srgbClr val="566275"/>
                </a:solidFill>
                <a:latin typeface="Arial"/>
                <a:ea typeface="Arial"/>
                <a:cs typeface="Arial"/>
              </a:rPr>
              <a:t>The main lesson was to build claims from connected evidence, not assumptions</a:t>
            </a:r>
          </a:p>
        </p:txBody>
      </p:sp>
      <p:sp>
        <p:nvSpPr>
          <p:cNvPr id="3" name="Rectangle 2">
            <a:extLst>
              <a:ext uri="{FF2B5EF4-FFF2-40B4-BE49-F238E27FC236}">
                <a16:creationId xmlns:a16="http://schemas.microsoft.com/office/drawing/2014/main" id="{FA359B4C-7620-48E0-866D-BEA93D08F700}"/>
              </a:ext>
            </a:extLst>
          </p:cNvPr>
          <p:cNvSpPr>
            <a:spLocks noGrp="1"/>
          </p:cNvSpPr>
          <p:nvPr/>
        </p:nvSpPr>
        <p:spPr>
          <a:xfrm>
            <a:off x="647700" y="1200150"/>
            <a:ext cx="857250" cy="47625"/>
          </a:xfrm>
          <a:prstGeom prst="rect">
            <a:avLst/>
          </a:prstGeom>
          <a:solidFill>
            <a:srgbClr val="FF6A2A"/>
          </a:solidFill>
          <a:ln w="9525">
            <a:solidFill>
              <a:srgbClr val="FF6A2A"/>
            </a:solidFill>
            <a:prstDash val="solid"/>
          </a:ln>
        </p:spPr>
        <p:txBody>
          <a:bodyPr/>
          <a:lstStyle/>
          <a:p>
            <a:endParaRPr lang="en-US"/>
          </a:p>
        </p:txBody>
      </p:sp>
      <p:sp>
        <p:nvSpPr>
          <p:cNvPr id="4" name="Rectangle 3">
            <a:extLst>
              <a:ext uri="{FF2B5EF4-FFF2-40B4-BE49-F238E27FC236}">
                <a16:creationId xmlns:a16="http://schemas.microsoft.com/office/drawing/2014/main" id="{244BF3E1-48FB-4639-AE36-B57938547C7B}"/>
              </a:ext>
            </a:extLst>
          </p:cNvPr>
          <p:cNvSpPr>
            <a:spLocks noGrp="1"/>
          </p:cNvSpPr>
          <p:nvPr/>
        </p:nvSpPr>
        <p:spPr>
          <a:xfrm>
            <a:off x="666750" y="1581150"/>
            <a:ext cx="3905250" cy="361950"/>
          </a:xfrm>
          <a:prstGeom prst="rect">
            <a:avLst/>
          </a:prstGeom>
          <a:noFill/>
          <a:ln w="0">
            <a:noFill/>
            <a:prstDash val="solid"/>
          </a:ln>
        </p:spPr>
        <p:txBody>
          <a:bodyPr>
            <a:normAutofit fontScale="94667"/>
          </a:bodyPr>
          <a:lstStyle>
            <a:defPPr algn="l">
              <a:defRPr sz="1875" b="1">
                <a:solidFill>
                  <a:srgbClr val="0B3454"/>
                </a:solidFill>
                <a:latin typeface="Arial"/>
                <a:ea typeface="Arial"/>
                <a:cs typeface="Arial"/>
              </a:defRPr>
            </a:defPPr>
          </a:lstStyle>
          <a:p>
            <a:pPr algn="l">
              <a:defRPr sz="1875" b="1">
                <a:solidFill>
                  <a:srgbClr val="0B3454"/>
                </a:solidFill>
                <a:latin typeface="Arial"/>
                <a:ea typeface="Arial"/>
                <a:cs typeface="Arial"/>
              </a:defRPr>
            </a:pPr>
            <a:r>
              <a:rPr sz="1875" b="1">
                <a:solidFill>
                  <a:srgbClr val="0B3454"/>
                </a:solidFill>
                <a:latin typeface="Arial"/>
                <a:ea typeface="Arial"/>
                <a:cs typeface="Arial"/>
              </a:rPr>
              <a:t>What I learned</a:t>
            </a:r>
          </a:p>
        </p:txBody>
      </p:sp>
      <p:sp>
        <p:nvSpPr>
          <p:cNvPr id="5" name="Oval 4">
            <a:extLst>
              <a:ext uri="{FF2B5EF4-FFF2-40B4-BE49-F238E27FC236}">
                <a16:creationId xmlns:a16="http://schemas.microsoft.com/office/drawing/2014/main" id="{1C53D811-367A-486E-8F9C-5E59D4609F33}"/>
              </a:ext>
            </a:extLst>
          </p:cNvPr>
          <p:cNvSpPr>
            <a:spLocks noGrp="1"/>
          </p:cNvSpPr>
          <p:nvPr/>
        </p:nvSpPr>
        <p:spPr>
          <a:xfrm>
            <a:off x="685800" y="2114550"/>
            <a:ext cx="323850" cy="323850"/>
          </a:xfrm>
          <a:prstGeom prst="ellipse">
            <a:avLst/>
          </a:prstGeom>
          <a:solidFill>
            <a:srgbClr val="1478D4"/>
          </a:solidFill>
          <a:ln w="0">
            <a:solidFill>
              <a:srgbClr val="1478D4"/>
            </a:solidFill>
            <a:prstDash val="solid"/>
          </a:ln>
        </p:spPr>
        <p:txBody>
          <a:bodyPr>
            <a:normAutofit fontScale="40170"/>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Rectangle 5">
            <a:extLst>
              <a:ext uri="{FF2B5EF4-FFF2-40B4-BE49-F238E27FC236}">
                <a16:creationId xmlns:a16="http://schemas.microsoft.com/office/drawing/2014/main" id="{2360C1DC-40B3-4F7A-9954-3D6C8FF5AF03}"/>
              </a:ext>
            </a:extLst>
          </p:cNvPr>
          <p:cNvSpPr>
            <a:spLocks noGrp="1"/>
          </p:cNvSpPr>
          <p:nvPr/>
        </p:nvSpPr>
        <p:spPr>
          <a:xfrm>
            <a:off x="1181100" y="2076450"/>
            <a:ext cx="4476750" cy="666750"/>
          </a:xfrm>
          <a:prstGeom prst="rect">
            <a:avLst/>
          </a:prstGeom>
          <a:noFill/>
          <a:ln w="0">
            <a:noFill/>
            <a:prstDash val="solid"/>
          </a:ln>
        </p:spPr>
        <p:txBody>
          <a:bodyPr>
            <a:normAutofit/>
          </a:bodyPr>
          <a:lstStyle>
            <a:defPPr algn="l">
              <a:defRPr sz="1425" b="0">
                <a:solidFill>
                  <a:srgbClr val="152033"/>
                </a:solidFill>
                <a:latin typeface="Arial"/>
                <a:ea typeface="Arial"/>
                <a:cs typeface="Arial"/>
              </a:defRPr>
            </a:defPPr>
          </a:lstStyle>
          <a:p>
            <a:pPr algn="l">
              <a:defRPr sz="1425" b="0">
                <a:solidFill>
                  <a:srgbClr val="152033"/>
                </a:solidFill>
                <a:latin typeface="Arial"/>
                <a:ea typeface="Arial"/>
                <a:cs typeface="Arial"/>
              </a:defRPr>
            </a:pPr>
            <a:r>
              <a:rPr sz="1425" b="0">
                <a:solidFill>
                  <a:srgbClr val="152033"/>
                </a:solidFill>
                <a:latin typeface="Arial"/>
                <a:ea typeface="Arial"/>
                <a:cs typeface="Arial"/>
              </a:rPr>
              <a:t>KQL becomes practical when each query answers one clear investigative question.</a:t>
            </a:r>
          </a:p>
        </p:txBody>
      </p:sp>
      <p:sp>
        <p:nvSpPr>
          <p:cNvPr id="7" name="Oval 6">
            <a:extLst>
              <a:ext uri="{FF2B5EF4-FFF2-40B4-BE49-F238E27FC236}">
                <a16:creationId xmlns:a16="http://schemas.microsoft.com/office/drawing/2014/main" id="{748D7F6E-52C8-431E-B632-45EEBB01DE2F}"/>
              </a:ext>
            </a:extLst>
          </p:cNvPr>
          <p:cNvSpPr>
            <a:spLocks noGrp="1"/>
          </p:cNvSpPr>
          <p:nvPr/>
        </p:nvSpPr>
        <p:spPr>
          <a:xfrm>
            <a:off x="685800" y="2971800"/>
            <a:ext cx="323850" cy="323850"/>
          </a:xfrm>
          <a:prstGeom prst="ellipse">
            <a:avLst/>
          </a:prstGeom>
          <a:solidFill>
            <a:srgbClr val="1478D4"/>
          </a:solidFill>
          <a:ln w="0">
            <a:solidFill>
              <a:srgbClr val="1478D4"/>
            </a:solidFill>
            <a:prstDash val="solid"/>
          </a:ln>
        </p:spPr>
        <p:txBody>
          <a:bodyPr>
            <a:normAutofit fontScale="40170"/>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8" name="Rectangle 7">
            <a:extLst>
              <a:ext uri="{FF2B5EF4-FFF2-40B4-BE49-F238E27FC236}">
                <a16:creationId xmlns:a16="http://schemas.microsoft.com/office/drawing/2014/main" id="{5BDA0726-13FE-440A-A1B5-57FF67C5274E}"/>
              </a:ext>
            </a:extLst>
          </p:cNvPr>
          <p:cNvSpPr>
            <a:spLocks noGrp="1"/>
          </p:cNvSpPr>
          <p:nvPr/>
        </p:nvSpPr>
        <p:spPr>
          <a:xfrm>
            <a:off x="1181100" y="2933700"/>
            <a:ext cx="4476750" cy="666750"/>
          </a:xfrm>
          <a:prstGeom prst="rect">
            <a:avLst/>
          </a:prstGeom>
          <a:noFill/>
          <a:ln w="0">
            <a:noFill/>
            <a:prstDash val="solid"/>
          </a:ln>
        </p:spPr>
        <p:txBody>
          <a:bodyPr>
            <a:normAutofit/>
          </a:bodyPr>
          <a:lstStyle>
            <a:defPPr algn="l">
              <a:defRPr sz="1425" b="0">
                <a:solidFill>
                  <a:srgbClr val="152033"/>
                </a:solidFill>
                <a:latin typeface="Arial"/>
                <a:ea typeface="Arial"/>
                <a:cs typeface="Arial"/>
              </a:defRPr>
            </a:defPPr>
          </a:lstStyle>
          <a:p>
            <a:pPr algn="l">
              <a:defRPr sz="1425" b="0">
                <a:solidFill>
                  <a:srgbClr val="152033"/>
                </a:solidFill>
                <a:latin typeface="Arial"/>
                <a:ea typeface="Arial"/>
                <a:cs typeface="Arial"/>
              </a:defRPr>
            </a:pPr>
            <a:r>
              <a:rPr sz="1425" b="0">
                <a:solidFill>
                  <a:srgbClr val="152033"/>
                </a:solidFill>
                <a:latin typeface="Arial"/>
                <a:ea typeface="Arial"/>
                <a:cs typeface="Arial"/>
              </a:rPr>
              <a:t>A reset URL suggests intent, while an authentication result proves compromise.</a:t>
            </a:r>
          </a:p>
        </p:txBody>
      </p:sp>
      <p:sp>
        <p:nvSpPr>
          <p:cNvPr id="9" name="Oval 8">
            <a:extLst>
              <a:ext uri="{FF2B5EF4-FFF2-40B4-BE49-F238E27FC236}">
                <a16:creationId xmlns:a16="http://schemas.microsoft.com/office/drawing/2014/main" id="{25382251-0107-457A-9949-B915400E8B47}"/>
              </a:ext>
            </a:extLst>
          </p:cNvPr>
          <p:cNvSpPr>
            <a:spLocks noGrp="1"/>
          </p:cNvSpPr>
          <p:nvPr/>
        </p:nvSpPr>
        <p:spPr>
          <a:xfrm>
            <a:off x="685800" y="3829050"/>
            <a:ext cx="323850" cy="323850"/>
          </a:xfrm>
          <a:prstGeom prst="ellipse">
            <a:avLst/>
          </a:prstGeom>
          <a:solidFill>
            <a:srgbClr val="1478D4"/>
          </a:solidFill>
          <a:ln w="0">
            <a:solidFill>
              <a:srgbClr val="1478D4"/>
            </a:solidFill>
            <a:prstDash val="solid"/>
          </a:ln>
        </p:spPr>
        <p:txBody>
          <a:bodyPr>
            <a:normAutofit fontScale="40170"/>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0" name="Rectangle 9">
            <a:extLst>
              <a:ext uri="{FF2B5EF4-FFF2-40B4-BE49-F238E27FC236}">
                <a16:creationId xmlns:a16="http://schemas.microsoft.com/office/drawing/2014/main" id="{F148085B-E81A-4195-B640-7910C50D9652}"/>
              </a:ext>
            </a:extLst>
          </p:cNvPr>
          <p:cNvSpPr>
            <a:spLocks noGrp="1"/>
          </p:cNvSpPr>
          <p:nvPr/>
        </p:nvSpPr>
        <p:spPr>
          <a:xfrm>
            <a:off x="1181100" y="3790950"/>
            <a:ext cx="4476750" cy="666750"/>
          </a:xfrm>
          <a:prstGeom prst="rect">
            <a:avLst/>
          </a:prstGeom>
          <a:noFill/>
          <a:ln w="0">
            <a:noFill/>
            <a:prstDash val="solid"/>
          </a:ln>
        </p:spPr>
        <p:txBody>
          <a:bodyPr>
            <a:normAutofit/>
          </a:bodyPr>
          <a:lstStyle>
            <a:defPPr algn="l">
              <a:defRPr sz="1425" b="0">
                <a:solidFill>
                  <a:srgbClr val="152033"/>
                </a:solidFill>
                <a:latin typeface="Arial"/>
                <a:ea typeface="Arial"/>
                <a:cs typeface="Arial"/>
              </a:defRPr>
            </a:defPPr>
          </a:lstStyle>
          <a:p>
            <a:pPr algn="l">
              <a:defRPr sz="1425" b="0">
                <a:solidFill>
                  <a:srgbClr val="152033"/>
                </a:solidFill>
                <a:latin typeface="Arial"/>
                <a:ea typeface="Arial"/>
                <a:cs typeface="Arial"/>
              </a:defRPr>
            </a:pPr>
            <a:r>
              <a:rPr sz="1425" b="0">
                <a:solidFill>
                  <a:srgbClr val="152033"/>
                </a:solidFill>
                <a:latin typeface="Arial"/>
                <a:ea typeface="Arial"/>
                <a:cs typeface="Arial"/>
              </a:rPr>
              <a:t>Timestamps and repeated indicators turn separate logs into a defensible timeline.</a:t>
            </a:r>
          </a:p>
        </p:txBody>
      </p:sp>
      <p:sp>
        <p:nvSpPr>
          <p:cNvPr id="11" name="Oval 10">
            <a:extLst>
              <a:ext uri="{FF2B5EF4-FFF2-40B4-BE49-F238E27FC236}">
                <a16:creationId xmlns:a16="http://schemas.microsoft.com/office/drawing/2014/main" id="{ED2A36B3-9AFB-4EE6-8FB6-D0B1A4D1FE93}"/>
              </a:ext>
            </a:extLst>
          </p:cNvPr>
          <p:cNvSpPr>
            <a:spLocks noGrp="1"/>
          </p:cNvSpPr>
          <p:nvPr/>
        </p:nvSpPr>
        <p:spPr>
          <a:xfrm>
            <a:off x="685800" y="4686300"/>
            <a:ext cx="323850" cy="323850"/>
          </a:xfrm>
          <a:prstGeom prst="ellipse">
            <a:avLst/>
          </a:prstGeom>
          <a:solidFill>
            <a:srgbClr val="FF6A2A"/>
          </a:solidFill>
          <a:ln w="0">
            <a:solidFill>
              <a:srgbClr val="FF6A2A"/>
            </a:solidFill>
            <a:prstDash val="solid"/>
          </a:ln>
        </p:spPr>
        <p:txBody>
          <a:bodyPr>
            <a:normAutofit fontScale="40170"/>
          </a:bodyPr>
          <a:lstStyle>
            <a:defPPr algn="ctr">
              <a:defRPr sz="1650" b="1">
                <a:solidFill>
                  <a:srgbClr val="FFFFFF"/>
                </a:solidFill>
                <a:latin typeface="Arial"/>
                <a:ea typeface="Arial"/>
                <a:cs typeface="Arial"/>
              </a:defRPr>
            </a:def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2" name="Rectangle 11">
            <a:extLst>
              <a:ext uri="{FF2B5EF4-FFF2-40B4-BE49-F238E27FC236}">
                <a16:creationId xmlns:a16="http://schemas.microsoft.com/office/drawing/2014/main" id="{2E3321F9-ACF7-4A4F-8DFC-35445DF9454C}"/>
              </a:ext>
            </a:extLst>
          </p:cNvPr>
          <p:cNvSpPr>
            <a:spLocks noGrp="1"/>
          </p:cNvSpPr>
          <p:nvPr/>
        </p:nvSpPr>
        <p:spPr>
          <a:xfrm>
            <a:off x="1181100" y="4648200"/>
            <a:ext cx="4476750" cy="666750"/>
          </a:xfrm>
          <a:prstGeom prst="rect">
            <a:avLst/>
          </a:prstGeom>
          <a:noFill/>
          <a:ln w="0">
            <a:noFill/>
            <a:prstDash val="solid"/>
          </a:ln>
        </p:spPr>
        <p:txBody>
          <a:bodyPr>
            <a:normAutofit/>
          </a:bodyPr>
          <a:lstStyle>
            <a:defPPr algn="l">
              <a:defRPr sz="1425" b="0">
                <a:solidFill>
                  <a:srgbClr val="152033"/>
                </a:solidFill>
                <a:latin typeface="Arial"/>
                <a:ea typeface="Arial"/>
                <a:cs typeface="Arial"/>
              </a:defRPr>
            </a:defPPr>
          </a:lstStyle>
          <a:p>
            <a:pPr algn="l">
              <a:defRPr sz="1425" b="0">
                <a:solidFill>
                  <a:srgbClr val="152033"/>
                </a:solidFill>
                <a:latin typeface="Arial"/>
                <a:ea typeface="Arial"/>
                <a:cs typeface="Arial"/>
              </a:defRPr>
            </a:pPr>
            <a:r>
              <a:rPr sz="1425" b="0">
                <a:solidFill>
                  <a:srgbClr val="152033"/>
                </a:solidFill>
                <a:latin typeface="Arial"/>
                <a:ea typeface="Arial"/>
                <a:cs typeface="Arial"/>
              </a:rPr>
              <a:t>If I repeated the task, I would record each query, result and interpretation as I worked.</a:t>
            </a:r>
          </a:p>
        </p:txBody>
      </p:sp>
      <p:sp>
        <p:nvSpPr>
          <p:cNvPr id="13" name="Rectangle 12">
            <a:extLst>
              <a:ext uri="{FF2B5EF4-FFF2-40B4-BE49-F238E27FC236}">
                <a16:creationId xmlns:a16="http://schemas.microsoft.com/office/drawing/2014/main" id="{47BDB6E8-7C71-405F-BE6A-667F55422EB7}"/>
              </a:ext>
            </a:extLst>
          </p:cNvPr>
          <p:cNvSpPr>
            <a:spLocks noGrp="1"/>
          </p:cNvSpPr>
          <p:nvPr/>
        </p:nvSpPr>
        <p:spPr>
          <a:xfrm>
            <a:off x="685800" y="5619750"/>
            <a:ext cx="2095500" cy="285750"/>
          </a:xfrm>
          <a:prstGeom prst="rect">
            <a:avLst/>
          </a:prstGeom>
          <a:noFill/>
          <a:ln w="0">
            <a:noFill/>
            <a:prstDash val="solid"/>
          </a:ln>
        </p:spPr>
        <p:txBody>
          <a:bodyPr>
            <a:normAutofit fontScale="85000"/>
          </a:bodyPr>
          <a:lstStyle>
            <a:defPPr algn="l">
              <a:defRPr sz="1500" b="1">
                <a:solidFill>
                  <a:srgbClr val="FF6A2A"/>
                </a:solidFill>
                <a:latin typeface="Arial"/>
                <a:ea typeface="Arial"/>
                <a:cs typeface="Arial"/>
              </a:defRPr>
            </a:defPPr>
          </a:lstStyle>
          <a:p>
            <a:pPr algn="l">
              <a:defRPr sz="1500" b="1">
                <a:solidFill>
                  <a:srgbClr val="FF6A2A"/>
                </a:solidFill>
                <a:latin typeface="Arial"/>
                <a:ea typeface="Arial"/>
                <a:cs typeface="Arial"/>
              </a:defRPr>
            </a:pPr>
            <a:r>
              <a:rPr sz="1500" b="1">
                <a:solidFill>
                  <a:srgbClr val="FF6A2A"/>
                </a:solidFill>
                <a:latin typeface="Arial"/>
                <a:ea typeface="Arial"/>
                <a:cs typeface="Arial"/>
              </a:rPr>
              <a:t>Professional value</a:t>
            </a:r>
          </a:p>
        </p:txBody>
      </p:sp>
      <p:sp>
        <p:nvSpPr>
          <p:cNvPr id="14" name="Rectangle 13">
            <a:extLst>
              <a:ext uri="{FF2B5EF4-FFF2-40B4-BE49-F238E27FC236}">
                <a16:creationId xmlns:a16="http://schemas.microsoft.com/office/drawing/2014/main" id="{5F4BF1DE-F010-4D7F-987D-75548E441071}"/>
              </a:ext>
            </a:extLst>
          </p:cNvPr>
          <p:cNvSpPr>
            <a:spLocks noGrp="1"/>
          </p:cNvSpPr>
          <p:nvPr/>
        </p:nvSpPr>
        <p:spPr>
          <a:xfrm>
            <a:off x="2762250" y="5591175"/>
            <a:ext cx="3048000" cy="514350"/>
          </a:xfrm>
          <a:prstGeom prst="rect">
            <a:avLst/>
          </a:prstGeom>
          <a:noFill/>
          <a:ln w="0">
            <a:noFill/>
            <a:prstDash val="solid"/>
          </a:ln>
        </p:spPr>
        <p:txBody>
          <a:bodyPr>
            <a:normAutofit fontScale="75444"/>
          </a:bodyPr>
          <a:lstStyle>
            <a:defPPr algn="l">
              <a:defRPr sz="1275" b="0">
                <a:solidFill>
                  <a:srgbClr val="566275"/>
                </a:solidFill>
                <a:latin typeface="Arial"/>
                <a:ea typeface="Arial"/>
                <a:cs typeface="Arial"/>
              </a:defRPr>
            </a:defPPr>
          </a:lstStyle>
          <a:p>
            <a:pPr algn="l">
              <a:defRPr sz="1275" b="0">
                <a:solidFill>
                  <a:srgbClr val="566275"/>
                </a:solidFill>
                <a:latin typeface="Arial"/>
                <a:ea typeface="Arial"/>
                <a:cs typeface="Arial"/>
              </a:defRPr>
            </a:pPr>
            <a:r>
              <a:rPr sz="1275" b="0">
                <a:solidFill>
                  <a:srgbClr val="566275"/>
                </a:solidFill>
                <a:latin typeface="Arial"/>
                <a:ea typeface="Arial"/>
                <a:cs typeface="Arial"/>
              </a:rPr>
              <a:t>The exercise developed SOC-style log analysis, evidence handling and incident communication skills.</a:t>
            </a:r>
          </a:p>
        </p:txBody>
      </p:sp>
      <p:sp>
        <p:nvSpPr>
          <p:cNvPr id="15" name="Rounded Rectangle 14">
            <a:extLst>
              <a:ext uri="{FF2B5EF4-FFF2-40B4-BE49-F238E27FC236}">
                <a16:creationId xmlns:a16="http://schemas.microsoft.com/office/drawing/2014/main" id="{D842F8FD-F362-4DFC-81F7-C5589D4F928D}"/>
              </a:ext>
            </a:extLst>
          </p:cNvPr>
          <p:cNvSpPr>
            <a:spLocks noGrp="1"/>
          </p:cNvSpPr>
          <p:nvPr/>
        </p:nvSpPr>
        <p:spPr>
          <a:xfrm>
            <a:off x="6286500" y="1562100"/>
            <a:ext cx="4953000" cy="4324350"/>
          </a:xfrm>
          <a:prstGeom prst="roundRect">
            <a:avLst>
              <a:gd name="adj" fmla="val 1762"/>
            </a:avLst>
          </a:prstGeom>
          <a:solidFill>
            <a:srgbClr val="061B2F"/>
          </a:solidFill>
          <a:ln w="9525">
            <a:solidFill>
              <a:srgbClr val="061B2F"/>
            </a:solidFill>
            <a:prstDash val="solid"/>
          </a:ln>
        </p:spPr>
        <p:txBody>
          <a:bodyPr/>
          <a:lstStyle/>
          <a:p>
            <a:endParaRPr lang="en-US"/>
          </a:p>
        </p:txBody>
      </p:sp>
      <p:pic>
        <p:nvPicPr>
          <p:cNvPr id="16" name="Picture 15">
            <a:extLst>
              <a:ext uri="{FF2B5EF4-FFF2-40B4-BE49-F238E27FC236}">
                <a16:creationId xmlns:a16="http://schemas.microsoft.com/office/drawing/2014/main" id="{2A96E923-0756-4D6D-9B86-5E47D924915E}"/>
              </a:ext>
            </a:extLst>
          </p:cNvPr>
          <p:cNvPicPr>
            <a:picLocks noChangeAspect="1"/>
          </p:cNvPicPr>
          <p:nvPr/>
        </p:nvPicPr>
        <p:blipFill>
          <a:blip r:embed="rId3"/>
          <a:stretch/>
        </p:blipFill>
        <p:spPr>
          <a:xfrm>
            <a:off x="6477000" y="2265387"/>
            <a:ext cx="4572000" cy="2917775"/>
          </a:xfrm>
          <a:prstGeom prst="rect">
            <a:avLst/>
          </a:prstGeom>
        </p:spPr>
      </p:pic>
      <p:sp>
        <p:nvSpPr>
          <p:cNvPr id="17" name="Rectangle 16">
            <a:extLst>
              <a:ext uri="{FF2B5EF4-FFF2-40B4-BE49-F238E27FC236}">
                <a16:creationId xmlns:a16="http://schemas.microsoft.com/office/drawing/2014/main" id="{5AE9EE18-1030-4B8C-A46D-9B693E05EE70}"/>
              </a:ext>
            </a:extLst>
          </p:cNvPr>
          <p:cNvSpPr>
            <a:spLocks noGrp="1"/>
          </p:cNvSpPr>
          <p:nvPr/>
        </p:nvSpPr>
        <p:spPr>
          <a:xfrm>
            <a:off x="6819900" y="5962650"/>
            <a:ext cx="3905250" cy="266700"/>
          </a:xfrm>
          <a:prstGeom prst="rect">
            <a:avLst/>
          </a:prstGeom>
          <a:noFill/>
          <a:ln w="0">
            <a:noFill/>
            <a:prstDash val="solid"/>
          </a:ln>
        </p:spPr>
        <p:txBody>
          <a:bodyPr>
            <a:normAutofit fontScale="85185"/>
          </a:bodyPr>
          <a:lstStyle>
            <a:defPPr algn="ctr">
              <a:defRPr sz="1350" b="1">
                <a:solidFill>
                  <a:srgbClr val="0B3454"/>
                </a:solidFill>
                <a:latin typeface="Arial"/>
                <a:ea typeface="Arial"/>
                <a:cs typeface="Arial"/>
              </a:defRPr>
            </a:defPPr>
          </a:lstStyle>
          <a:p>
            <a:pPr algn="ctr">
              <a:defRPr sz="1350" b="1">
                <a:solidFill>
                  <a:srgbClr val="0B3454"/>
                </a:solidFill>
                <a:latin typeface="Arial"/>
                <a:ea typeface="Arial"/>
                <a:cs typeface="Arial"/>
              </a:defRPr>
            </a:pPr>
            <a:r>
              <a:rPr sz="1350" b="1">
                <a:solidFill>
                  <a:srgbClr val="0B3454"/>
                </a:solidFill>
                <a:latin typeface="Arial"/>
                <a:ea typeface="Arial"/>
                <a:cs typeface="Arial"/>
              </a:rPr>
              <a:t>35/35 solved  |  950 points  |  3h 5m</a:t>
            </a:r>
          </a:p>
        </p:txBody>
      </p:sp>
      <p:sp>
        <p:nvSpPr>
          <p:cNvPr id="18" name="Rectangle 17">
            <a:extLst>
              <a:ext uri="{FF2B5EF4-FFF2-40B4-BE49-F238E27FC236}">
                <a16:creationId xmlns:a16="http://schemas.microsoft.com/office/drawing/2014/main" id="{1A300A4E-14A8-4521-A122-DD5DAC54098E}"/>
              </a:ext>
            </a:extLst>
          </p:cNvPr>
          <p:cNvSpPr>
            <a:spLocks noGrp="1"/>
          </p:cNvSpPr>
          <p:nvPr/>
        </p:nvSpPr>
        <p:spPr>
          <a:xfrm>
            <a:off x="647700" y="6486525"/>
            <a:ext cx="4000500" cy="209550"/>
          </a:xfrm>
          <a:prstGeom prst="rect">
            <a:avLst/>
          </a:prstGeom>
          <a:noFill/>
          <a:ln w="0">
            <a:noFill/>
            <a:prstDash val="solid"/>
          </a:ln>
        </p:spPr>
        <p:txBody>
          <a:bodyPr>
            <a:normAutofit fontScale="93939"/>
          </a:bodyPr>
          <a:lstStyle>
            <a:defPPr algn="l">
              <a:defRPr sz="825" b="1">
                <a:solidFill>
                  <a:srgbClr val="7A8795"/>
                </a:solidFill>
                <a:latin typeface="Arial"/>
                <a:ea typeface="Arial"/>
                <a:cs typeface="Arial"/>
              </a:defRPr>
            </a:defPPr>
          </a:lstStyle>
          <a:p>
            <a:pPr algn="l">
              <a:defRPr sz="825" b="1">
                <a:solidFill>
                  <a:srgbClr val="7A8795"/>
                </a:solidFill>
                <a:latin typeface="Arial"/>
                <a:ea typeface="Arial"/>
                <a:cs typeface="Arial"/>
              </a:defRPr>
            </a:pPr>
            <a:r>
              <a:rPr sz="825" b="1">
                <a:solidFill>
                  <a:srgbClr val="7A8795"/>
                </a:solidFill>
                <a:latin typeface="Arial"/>
                <a:ea typeface="Arial"/>
                <a:cs typeface="Arial"/>
              </a:rPr>
              <a:t>ITECH1502  |  KC7 A Rap Beef</a:t>
            </a:r>
          </a:p>
        </p:txBody>
      </p:sp>
      <p:sp>
        <p:nvSpPr>
          <p:cNvPr id="19" name="Rectangle 18">
            <a:extLst>
              <a:ext uri="{FF2B5EF4-FFF2-40B4-BE49-F238E27FC236}">
                <a16:creationId xmlns:a16="http://schemas.microsoft.com/office/drawing/2014/main" id="{516A1BDE-34EC-4123-844E-56277DAA7932}"/>
              </a:ext>
            </a:extLst>
          </p:cNvPr>
          <p:cNvSpPr>
            <a:spLocks noGrp="1"/>
          </p:cNvSpPr>
          <p:nvPr/>
        </p:nvSpPr>
        <p:spPr>
          <a:xfrm>
            <a:off x="11068050" y="6457950"/>
            <a:ext cx="428625" cy="209550"/>
          </a:xfrm>
          <a:prstGeom prst="rect">
            <a:avLst/>
          </a:prstGeom>
          <a:noFill/>
          <a:ln w="0">
            <a:noFill/>
            <a:prstDash val="solid"/>
          </a:ln>
        </p:spPr>
        <p:txBody>
          <a:bodyPr>
            <a:normAutofit fontScale="86111"/>
          </a:bodyPr>
          <a:lstStyle>
            <a:defPPr algn="r">
              <a:defRPr sz="900" b="1">
                <a:solidFill>
                  <a:srgbClr val="0B3454"/>
                </a:solidFill>
                <a:latin typeface="Arial"/>
                <a:ea typeface="Arial"/>
                <a:cs typeface="Arial"/>
              </a:defRPr>
            </a:defPPr>
          </a:lstStyle>
          <a:p>
            <a:pPr algn="r">
              <a:defRPr sz="900" b="1">
                <a:solidFill>
                  <a:srgbClr val="0B3454"/>
                </a:solidFill>
                <a:latin typeface="Arial"/>
                <a:ea typeface="Arial"/>
                <a:cs typeface="Arial"/>
              </a:defRPr>
            </a:pPr>
            <a:r>
              <a:rPr sz="900" b="1">
                <a:solidFill>
                  <a:srgbClr val="0B3454"/>
                </a:solidFill>
                <a:latin typeface="Arial"/>
                <a:ea typeface="Arial"/>
                <a:cs typeface="Arial"/>
              </a:rPr>
              <a:t>09</a:t>
            </a:r>
          </a:p>
        </p:txBody>
      </p:sp>
    </p:spTree>
    <p:extLst>
      <p:ext uri="{BB962C8B-B14F-4D97-AF65-F5344CB8AC3E}">
        <p14:creationId xmlns:p14="http://schemas.microsoft.com/office/powerpoint/2010/main" val="18394763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1541</Words>
  <Application>Microsoft Macintosh PowerPoint</Application>
  <DocSecurity>0</DocSecurity>
  <PresentationFormat>Widescreen</PresentationFormat>
  <Paragraphs>134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Connor Reid-Scott</cp:lastModifiedBy>
  <cp:revision>1</cp:revision>
  <dcterms:created xsi:type="dcterms:W3CDTF">2026-10-12T14:34:31Z</dcterms:created>
  <dcterms:modified xsi:type="dcterms:W3CDTF">2026-10-12T23:53:19Z</dcterms:modified>
</cp:coreProperties>
</file>